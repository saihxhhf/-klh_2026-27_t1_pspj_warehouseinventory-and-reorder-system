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embeddedFontLst>
    <p:embeddedFont>
      <p:font typeface="Exo"/>
      <p:regular r:id="rId201314"/>
    </p:embeddedFont>
    <p:embeddedFont>
      <p:font typeface="Exo SemiBold"/>
      <p:regular r:id="rId201315"/>
    </p:embeddedFont>
    <p:embeddedFont>
      <p:font typeface="Exo Bold"/>
      <p:regular r:id="rId201316"/>
    </p:embeddedFont>
    <p:embeddedFont>
      <p:font typeface="Fira Mono Medium"/>
      <p:regular r:id="rId201317"/>
    </p:embeddedFont>
    <p:embeddedFont>
      <p:font typeface="Fira Mono Bold"/>
      <p:regular r:id="rId201318"/>
    </p:embeddedFont>
    <p:embeddedFont>
      <p:font typeface="Fira Mono"/>
      <p:regular r:id="rId201319"/>
    </p:embeddedFont>
    <p:embeddedFont>
      <p:font typeface="Michroma"/>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first-year Java application for tracking warehouse inventory and identifying items that need replenishment. The presentation covers the computational foundation and object-oriented design in Modules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system: a Java application that displays inventory, adds and removes stock with validation, flags items at or below their reorder level, and produces a reorder report. Walk through the four-step process from input to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tracking creates three linked problems: unreliable records, late detection of low stock, and delayed replenishment decisions. The proposed system replaces this scattered workflow with a consistent sequence: record, validate, detect, and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 exposes four actions. The sample table demonstrates the intended record shape: item ID, item name, quantity, reorder level, and status. The values are illustrative only. The status becomes REORDER when quantity reaches or falls below the reorder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IPO model to explain the program boundary, then walk through the pseudocode. The loop begins with initialization, accepts a menu choice, performs an operation, validates and updates the record, checks the threshold, displays the result, and repeats until Exit is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about thinking before coding. Students identify inputs, processing, validation, and outputs, then express the solution with an algorithm or flowchart. Java supplies the basic tools: variables, constants, primitive types, operators, casting, Scanner, and output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converts business rules into Java decisions. Conditional statements validate quantities and compare stock against reorderLevel. A switch statement keeps the menu readable by mapping each user choice to one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do–while loop guarantees that the menu appears before the exit condition is tested. The for or while loop scans inventory records. break ends the program when Exit is selected, and continue skips records that should not be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separates repeated actions into methods. Arrays hold the inventory records, traversal visits each position, and linear searching compares an item ID with each stored record. Parameters and return values make the methods reusable; overloading allows the same method name with different parameter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introduces the object that represents one inventory record. Private fields support encapsulation, while a constructor, getters, setters, and toString make the object usable. Inheritance and interfaces are introduced briefly, and try–catch provides a controlled response to invalid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Part 1 by showing how the modules reinforce one another. Module 1 establishes input and processing. Module 2 controls decisions, thresholds, loops, and menus. Module 3 packages methods, arrays, traversal, and searching. Module 4 models records as objects and adds encapsulation and exception handling. Part 2 continues with Strings, File I/O, Collections, Lambda Expressions, and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Strings never change in place, so each operation returns a new value. Use equals() for content comparison, and show the case-insensitive search as the practical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save-and-reload cycle. try-with-resources closes the reader automatically. Missing files and malformed lines are handled explicitly rather than assumed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Map key gives direct lookup by ID, and generics make Map&lt;String, Item&gt; reject any other value type at compile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left to right: filter keeps low-stock items, sorted orders them by quantity, and forEach prints the reorder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each module to the pipeline: fundamentals and OOP shape the Item model, strings and file I/O handle input and persistence, and collections and streams produce the reorder report. State clearly that the tests are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3.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5050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preencoded.png">
            <a:hlinkClick r:id="rId4" tooltip=""/>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50505"/>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5050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e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3407" y="738822"/>
            <a:ext cx="876913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KL DEEMED TO BE UNIVERSITY · B.TECH CSE</a:t>
            </a:r>
            <a:endParaRPr lang="en-US" sz="1100" dirty="0"/>
          </a:p>
        </p:txBody>
      </p:sp>
      <p:sp>
        <p:nvSpPr>
          <p:cNvPr id="3" name="Text 1"/>
          <p:cNvSpPr/>
          <p:nvPr/>
        </p:nvSpPr>
        <p:spPr>
          <a:xfrm>
            <a:off x="733407" y="1038566"/>
            <a:ext cx="8159546" cy="1195784"/>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FFFFFF"/>
                </a:solidFill>
                <a:latin typeface="Exo SemiBold" pitchFamily="34" charset="0"/>
                <a:ea typeface="Exo SemiBold" pitchFamily="34" charset="-122"/>
                <a:cs typeface="Exo SemiBold" pitchFamily="34" charset="-120"/>
              </a:rPr>
              <a:t>Warehouse Inventory &amp; Reorder System Using Java</a:t>
            </a:r>
            <a:endParaRPr lang="en-US" sz="4400" dirty="0"/>
          </a:p>
        </p:txBody>
      </p:sp>
      <p:sp>
        <p:nvSpPr>
          <p:cNvPr id="4" name="Text 2"/>
          <p:cNvSpPr/>
          <p:nvPr/>
        </p:nvSpPr>
        <p:spPr>
          <a:xfrm>
            <a:off x="733407" y="2390180"/>
            <a:ext cx="8769131" cy="324545"/>
          </a:xfrm>
          <a:prstGeom prst="rect">
            <a:avLst/>
          </a:prstGeom>
          <a:noFill/>
          <a:ln/>
        </p:spPr>
        <p:txBody>
          <a:bodyPr wrap="none" lIns="0" tIns="0" rIns="0" bIns="0" rtlCol="0" anchor="t"/>
          <a:lstStyle/>
          <a:p>
            <a:pPr algn="l" indent="0" marL="0">
              <a:lnSpc>
                <a:spcPct val="118000"/>
              </a:lnSpc>
              <a:buNone/>
            </a:pPr>
            <a:r>
              <a:rPr lang="en-US" sz="1800" dirty="0">
                <a:solidFill>
                  <a:srgbClr val="FFFFFF"/>
                </a:solidFill>
                <a:latin typeface="Exo" pitchFamily="34" charset="0"/>
                <a:ea typeface="Exo" pitchFamily="34" charset="-122"/>
                <a:cs typeface="Exo" pitchFamily="34" charset="-120"/>
              </a:rPr>
              <a:t>A Menu-Driven Inventory Management Project</a:t>
            </a:r>
            <a:endParaRPr lang="en-US" sz="1800" dirty="0"/>
          </a:p>
        </p:txBody>
      </p:sp>
      <p:sp>
        <p:nvSpPr>
          <p:cNvPr id="5" name="Text 3"/>
          <p:cNvSpPr/>
          <p:nvPr/>
        </p:nvSpPr>
        <p:spPr>
          <a:xfrm>
            <a:off x="733407" y="4345622"/>
            <a:ext cx="1092807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TEAM</a:t>
            </a:r>
            <a:endParaRPr lang="en-US" sz="1100" dirty="0"/>
          </a:p>
        </p:txBody>
      </p:sp>
      <p:sp>
        <p:nvSpPr>
          <p:cNvPr id="6" name="Text 4"/>
          <p:cNvSpPr/>
          <p:nvPr/>
        </p:nvSpPr>
        <p:spPr>
          <a:xfrm>
            <a:off x="733407" y="4702770"/>
            <a:ext cx="3439431"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Sai Kiran</a:t>
            </a:r>
            <a:endParaRPr lang="en-US" sz="1500" dirty="0"/>
          </a:p>
        </p:txBody>
      </p:sp>
      <p:sp>
        <p:nvSpPr>
          <p:cNvPr id="7" name="Text 5"/>
          <p:cNvSpPr/>
          <p:nvPr/>
        </p:nvSpPr>
        <p:spPr>
          <a:xfrm>
            <a:off x="733407" y="5089065"/>
            <a:ext cx="3439431"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Roll No: 2620030061</a:t>
            </a:r>
            <a:endParaRPr lang="en-US" sz="1100" dirty="0"/>
          </a:p>
        </p:txBody>
      </p:sp>
      <p:sp>
        <p:nvSpPr>
          <p:cNvPr id="8" name="Text 6"/>
          <p:cNvSpPr/>
          <p:nvPr/>
        </p:nvSpPr>
        <p:spPr>
          <a:xfrm>
            <a:off x="4376033" y="4702770"/>
            <a:ext cx="3236335"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Naman</a:t>
            </a:r>
            <a:endParaRPr lang="en-US" sz="1500" dirty="0"/>
          </a:p>
        </p:txBody>
      </p:sp>
      <p:sp>
        <p:nvSpPr>
          <p:cNvPr id="9" name="Text 7"/>
          <p:cNvSpPr/>
          <p:nvPr/>
        </p:nvSpPr>
        <p:spPr>
          <a:xfrm>
            <a:off x="4376033" y="5089065"/>
            <a:ext cx="3236335"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Roll No: 2620040105</a:t>
            </a:r>
            <a:endParaRPr lang="en-US" sz="1100" dirty="0"/>
          </a:p>
        </p:txBody>
      </p:sp>
      <p:sp>
        <p:nvSpPr>
          <p:cNvPr id="10" name="Text 8"/>
          <p:cNvSpPr/>
          <p:nvPr/>
        </p:nvSpPr>
        <p:spPr>
          <a:xfrm>
            <a:off x="7815563" y="4702770"/>
            <a:ext cx="3236236"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Naruna</a:t>
            </a:r>
            <a:endParaRPr lang="en-US" sz="1500" dirty="0"/>
          </a:p>
        </p:txBody>
      </p:sp>
      <p:sp>
        <p:nvSpPr>
          <p:cNvPr id="11" name="Text 9"/>
          <p:cNvSpPr/>
          <p:nvPr/>
        </p:nvSpPr>
        <p:spPr>
          <a:xfrm>
            <a:off x="7815563" y="5089065"/>
            <a:ext cx="3236236"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FFFFFF"/>
                </a:solidFill>
                <a:latin typeface="Exo" pitchFamily="34" charset="0"/>
                <a:ea typeface="Exo" pitchFamily="34" charset="-122"/>
                <a:cs typeface="Exo" pitchFamily="34" charset="-120"/>
              </a:rPr>
              <a:t>Roll No: 2620040039</a:t>
            </a:r>
            <a:endParaRPr lang="en-US" sz="1100" dirty="0"/>
          </a:p>
        </p:txBody>
      </p:sp>
      <p:sp>
        <p:nvSpPr>
          <p:cNvPr id="12" name="Text 10"/>
          <p:cNvSpPr/>
          <p:nvPr/>
        </p:nvSpPr>
        <p:spPr>
          <a:xfrm>
            <a:off x="733407" y="5680511"/>
            <a:ext cx="515914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FACULTY</a:t>
            </a:r>
            <a:endParaRPr lang="en-US" sz="1100" dirty="0"/>
          </a:p>
        </p:txBody>
      </p:sp>
      <p:sp>
        <p:nvSpPr>
          <p:cNvPr id="13" name="Text 11"/>
          <p:cNvSpPr/>
          <p:nvPr/>
        </p:nvSpPr>
        <p:spPr>
          <a:xfrm>
            <a:off x="733407" y="5974159"/>
            <a:ext cx="5159147"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Sukanya</a:t>
            </a:r>
            <a:endParaRPr lang="en-US" sz="1500" dirty="0"/>
          </a:p>
        </p:txBody>
      </p:sp>
      <p:sp>
        <p:nvSpPr>
          <p:cNvPr id="14" name="Text 12"/>
          <p:cNvSpPr/>
          <p:nvPr/>
        </p:nvSpPr>
        <p:spPr>
          <a:xfrm>
            <a:off x="6095748" y="5680511"/>
            <a:ext cx="4956051"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FFFFFF"/>
                </a:solidFill>
                <a:latin typeface="Fira Mono Medium" pitchFamily="34" charset="0"/>
                <a:ea typeface="Fira Mono Medium" pitchFamily="34" charset="-122"/>
                <a:cs typeface="Fira Mono Medium" pitchFamily="34" charset="-120"/>
              </a:rPr>
              <a:t>ACADEMIC YEAR</a:t>
            </a:r>
            <a:endParaRPr lang="en-US" sz="1100" dirty="0"/>
          </a:p>
        </p:txBody>
      </p:sp>
      <p:sp>
        <p:nvSpPr>
          <p:cNvPr id="15" name="Text 13"/>
          <p:cNvSpPr/>
          <p:nvPr/>
        </p:nvSpPr>
        <p:spPr>
          <a:xfrm>
            <a:off x="6095748" y="5974159"/>
            <a:ext cx="4956051" cy="270470"/>
          </a:xfrm>
          <a:prstGeom prst="rect">
            <a:avLst/>
          </a:prstGeom>
          <a:noFill/>
          <a:ln/>
        </p:spPr>
        <p:txBody>
          <a:bodyPr wrap="none" lIns="0" tIns="0" rIns="0" bIns="0" rtlCol="0" anchor="t"/>
          <a:lstStyle/>
          <a:p>
            <a:pPr algn="l" indent="0" marL="0">
              <a:lnSpc>
                <a:spcPct val="118000"/>
              </a:lnSpc>
              <a:buNone/>
            </a:pPr>
            <a:r>
              <a:rPr lang="en-US" sz="1500" dirty="0">
                <a:solidFill>
                  <a:srgbClr val="FFFFFF"/>
                </a:solidFill>
                <a:latin typeface="Exo" pitchFamily="34" charset="0"/>
                <a:ea typeface="Exo" pitchFamily="34" charset="-122"/>
                <a:cs typeface="Exo" pitchFamily="34" charset="-120"/>
              </a:rPr>
              <a:t>2026–2027</a:t>
            </a:r>
            <a:endParaRPr lang="en-US" sz="1500" dirty="0"/>
          </a:p>
        </p:txBody>
      </p:sp>
      <p:sp>
        <p:nvSpPr>
          <p:cNvPr id="16" name="Shape 14"/>
          <p:cNvSpPr/>
          <p:nvPr/>
        </p:nvSpPr>
        <p:spPr>
          <a:xfrm>
            <a:off x="4166488" y="4702770"/>
            <a:ext cx="12700" cy="772319"/>
          </a:xfrm>
          <a:prstGeom prst="rect">
            <a:avLst/>
          </a:prstGeom>
          <a:solidFill>
            <a:srgbClr val="3F3F3F"/>
          </a:solidFill>
          <a:ln/>
        </p:spPr>
      </p:sp>
      <p:sp>
        <p:nvSpPr>
          <p:cNvPr id="17" name="Shape 15"/>
          <p:cNvSpPr/>
          <p:nvPr/>
        </p:nvSpPr>
        <p:spPr>
          <a:xfrm>
            <a:off x="7606018" y="4702770"/>
            <a:ext cx="12700" cy="772319"/>
          </a:xfrm>
          <a:prstGeom prst="rect">
            <a:avLst/>
          </a:prstGeom>
          <a:solidFill>
            <a:srgbClr val="3F3F3F"/>
          </a:solidFill>
          <a:ln/>
        </p:spPr>
      </p:sp>
      <p:sp>
        <p:nvSpPr>
          <p:cNvPr id="18" name="Shape 16"/>
          <p:cNvSpPr/>
          <p:nvPr/>
        </p:nvSpPr>
        <p:spPr>
          <a:xfrm>
            <a:off x="733407" y="5468739"/>
            <a:ext cx="5159147" cy="12700"/>
          </a:xfrm>
          <a:prstGeom prst="rect">
            <a:avLst/>
          </a:prstGeom>
          <a:solidFill>
            <a:srgbClr val="3F3F3F"/>
          </a:solidFill>
          <a:ln/>
        </p:spPr>
      </p:sp>
      <p:sp>
        <p:nvSpPr>
          <p:cNvPr id="19" name="Shape 17"/>
          <p:cNvSpPr/>
          <p:nvPr/>
        </p:nvSpPr>
        <p:spPr>
          <a:xfrm>
            <a:off x="5886204" y="5475089"/>
            <a:ext cx="12700" cy="769541"/>
          </a:xfrm>
          <a:prstGeom prst="rect">
            <a:avLst/>
          </a:prstGeom>
          <a:solidFill>
            <a:srgbClr val="3F3F3F"/>
          </a:solidFill>
          <a:ln/>
        </p:spPr>
      </p:sp>
      <p:sp>
        <p:nvSpPr>
          <p:cNvPr id="20" name="Shape 18"/>
          <p:cNvSpPr/>
          <p:nvPr/>
        </p:nvSpPr>
        <p:spPr>
          <a:xfrm>
            <a:off x="5892553" y="5468739"/>
            <a:ext cx="5159246" cy="12700"/>
          </a:xfrm>
          <a:prstGeom prst="rect">
            <a:avLst/>
          </a:prstGeom>
          <a:solidFill>
            <a:srgbClr val="3F3F3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PROJECT ABSTRACT</a:t>
            </a:r>
            <a:endParaRPr lang="en-US" sz="1100" dirty="0"/>
          </a:p>
        </p:txBody>
      </p:sp>
      <p:sp>
        <p:nvSpPr>
          <p:cNvPr id="3" name="Text 1"/>
          <p:cNvSpPr/>
          <p:nvPr/>
        </p:nvSpPr>
        <p:spPr>
          <a:xfrm>
            <a:off x="609585" y="911566"/>
            <a:ext cx="10972526" cy="597892"/>
          </a:xfrm>
          <a:prstGeom prst="rect">
            <a:avLst/>
          </a:prstGeom>
          <a:noFill/>
          <a:ln/>
        </p:spPr>
        <p:txBody>
          <a:bodyPr wrap="none" lIns="0" tIns="0" rIns="0" bIns="0" rtlCol="0" anchor="t"/>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ABSTRACT</a:t>
            </a:r>
            <a:endParaRPr lang="en-US" sz="4400" dirty="0"/>
          </a:p>
        </p:txBody>
      </p:sp>
      <p:sp>
        <p:nvSpPr>
          <p:cNvPr id="4" name="Shape 2"/>
          <p:cNvSpPr/>
          <p:nvPr/>
        </p:nvSpPr>
        <p:spPr>
          <a:xfrm>
            <a:off x="609585" y="1711325"/>
            <a:ext cx="2743131" cy="31651"/>
          </a:xfrm>
          <a:prstGeom prst="roundRect">
            <a:avLst>
              <a:gd name="adj" fmla="val 49998"/>
            </a:avLst>
          </a:prstGeom>
          <a:solidFill>
            <a:srgbClr val="9BE1FF"/>
          </a:solidFill>
          <a:ln/>
        </p:spPr>
      </p:sp>
      <p:sp>
        <p:nvSpPr>
          <p:cNvPr id="5" name="Text 3"/>
          <p:cNvSpPr/>
          <p:nvPr/>
        </p:nvSpPr>
        <p:spPr>
          <a:xfrm>
            <a:off x="609585" y="1966913"/>
            <a:ext cx="10972526" cy="81141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The Warehouse Inventory &amp; Reorder System is a Java-based application designed to simplify warehouse stock management. It provides operations to display inventory, add stock, remove stock and generate reorder reports, and it applies programming logic to validate stock operations and identify items at or below their reorder levels.</a:t>
            </a:r>
            <a:endParaRPr lang="en-US" sz="1500" dirty="0"/>
          </a:p>
        </p:txBody>
      </p:sp>
      <p:sp>
        <p:nvSpPr>
          <p:cNvPr id="6" name="Text 4"/>
          <p:cNvSpPr/>
          <p:nvPr/>
        </p:nvSpPr>
        <p:spPr>
          <a:xfrm>
            <a:off x="609585" y="2956123"/>
            <a:ext cx="5333867"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Key highlights</a:t>
            </a:r>
            <a:endParaRPr lang="en-US" sz="2500" dirty="0"/>
          </a:p>
        </p:txBody>
      </p:sp>
      <p:sp>
        <p:nvSpPr>
          <p:cNvPr id="7" name="Text 5"/>
          <p:cNvSpPr/>
          <p:nvPr/>
        </p:nvSpPr>
        <p:spPr>
          <a:xfrm>
            <a:off x="609585" y="3518098"/>
            <a:ext cx="5333867" cy="1555552"/>
          </a:xfrm>
          <a:prstGeom prst="rect">
            <a:avLst/>
          </a:prstGeom>
          <a:noFill/>
          <a:ln/>
        </p:spPr>
        <p:txBody>
          <a:bodyPr wrap="square" lIns="0" tIns="0" rIns="0" bIns="0" rtlCol="0" anchor="t">
            <a:normAutofit/>
          </a:bodyPr>
          <a:lstStyle/>
          <a:p>
            <a:pPr algn="l" marL="304800" indent="-304800">
              <a:lnSpc>
                <a:spcPct val="118000"/>
              </a:lnSpc>
              <a:buSzPct val="100000"/>
              <a:buFont typeface="+mj-lt"/>
              <a:buAutoNum type="arabicPeriod" startAt="1"/>
            </a:pPr>
            <a:r>
              <a:rPr lang="en-US" sz="1500" dirty="0">
                <a:solidFill>
                  <a:srgbClr val="D5D5D5"/>
                </a:solidFill>
                <a:latin typeface="Exo" pitchFamily="34" charset="0"/>
                <a:ea typeface="Exo" pitchFamily="34" charset="-122"/>
                <a:cs typeface="Exo" pitchFamily="34" charset="-120"/>
              </a:rPr>
              <a:t>Inventory tracking and stock updates.</a:t>
            </a:r>
            <a:endParaRPr lang="en-US" sz="1500" dirty="0"/>
          </a:p>
          <a:p>
            <a:pPr algn="l" marL="304800" indent="-304800">
              <a:lnSpc>
                <a:spcPct val="118000"/>
              </a:lnSpc>
              <a:buSzPct val="100000"/>
              <a:buFont typeface="+mj-lt"/>
              <a:buAutoNum type="arabicPeriod" startAt="2"/>
            </a:pPr>
            <a:r>
              <a:rPr lang="en-US" sz="1500" dirty="0">
                <a:solidFill>
                  <a:srgbClr val="D5D5D5"/>
                </a:solidFill>
                <a:latin typeface="Exo" pitchFamily="34" charset="0"/>
                <a:ea typeface="Exo" pitchFamily="34" charset="-122"/>
                <a:cs typeface="Exo" pitchFamily="34" charset="-120"/>
              </a:rPr>
              <a:t>Validation of stock addition and removal.</a:t>
            </a:r>
            <a:endParaRPr lang="en-US" sz="1500" dirty="0"/>
          </a:p>
          <a:p>
            <a:pPr algn="l" marL="304800" indent="-304800">
              <a:lnSpc>
                <a:spcPct val="118000"/>
              </a:lnSpc>
              <a:buSzPct val="100000"/>
              <a:buFont typeface="+mj-lt"/>
              <a:buAutoNum type="arabicPeriod" startAt="3"/>
            </a:pPr>
            <a:r>
              <a:rPr lang="en-US" sz="1500" dirty="0">
                <a:solidFill>
                  <a:srgbClr val="D5D5D5"/>
                </a:solidFill>
                <a:latin typeface="Exo" pitchFamily="34" charset="0"/>
                <a:ea typeface="Exo" pitchFamily="34" charset="-122"/>
                <a:cs typeface="Exo" pitchFamily="34" charset="-120"/>
              </a:rPr>
              <a:t>Low-stock detection using reorder thresholds.</a:t>
            </a:r>
            <a:endParaRPr lang="en-US" sz="1500" dirty="0"/>
          </a:p>
          <a:p>
            <a:pPr algn="l" marL="304800" indent="-304800">
              <a:lnSpc>
                <a:spcPct val="118000"/>
              </a:lnSpc>
              <a:buSzPct val="100000"/>
              <a:buFont typeface="+mj-lt"/>
              <a:buAutoNum type="arabicPeriod" startAt="4"/>
            </a:pPr>
            <a:r>
              <a:rPr lang="en-US" sz="1500" dirty="0">
                <a:solidFill>
                  <a:srgbClr val="D5D5D5"/>
                </a:solidFill>
                <a:latin typeface="Exo" pitchFamily="34" charset="0"/>
                <a:ea typeface="Exo" pitchFamily="34" charset="-122"/>
                <a:cs typeface="Exo" pitchFamily="34" charset="-120"/>
              </a:rPr>
              <a:t>Automated reorder report generation.</a:t>
            </a:r>
            <a:endParaRPr lang="en-US" sz="1500" dirty="0"/>
          </a:p>
          <a:p>
            <a:pPr algn="l" marL="304800" indent="-304800">
              <a:lnSpc>
                <a:spcPct val="118000"/>
              </a:lnSpc>
              <a:buSzPct val="100000"/>
              <a:buFont typeface="+mj-lt"/>
              <a:buAutoNum type="arabicPeriod" startAt="5"/>
            </a:pPr>
            <a:r>
              <a:rPr lang="en-US" sz="1500" dirty="0">
                <a:solidFill>
                  <a:srgbClr val="D5D5D5"/>
                </a:solidFill>
                <a:latin typeface="Exo" pitchFamily="34" charset="0"/>
                <a:ea typeface="Exo" pitchFamily="34" charset="-122"/>
                <a:cs typeface="Exo" pitchFamily="34" charset="-120"/>
              </a:rPr>
              <a:t>Application of Java concepts to a practical problem.</a:t>
            </a:r>
            <a:endParaRPr lang="en-US" sz="1500" dirty="0"/>
          </a:p>
        </p:txBody>
      </p:sp>
      <p:sp>
        <p:nvSpPr>
          <p:cNvPr id="8" name="Text 6"/>
          <p:cNvSpPr/>
          <p:nvPr/>
        </p:nvSpPr>
        <p:spPr>
          <a:xfrm>
            <a:off x="6248244" y="2956123"/>
            <a:ext cx="5333867"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Process</a:t>
            </a:r>
            <a:endParaRPr lang="en-US" sz="2500" dirty="0"/>
          </a:p>
        </p:txBody>
      </p:sp>
      <p:sp>
        <p:nvSpPr>
          <p:cNvPr id="9" name="Text 7"/>
          <p:cNvSpPr/>
          <p:nvPr/>
        </p:nvSpPr>
        <p:spPr>
          <a:xfrm>
            <a:off x="6248244" y="3519432"/>
            <a:ext cx="251453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Inventory Input →</a:t>
            </a:r>
            <a:endParaRPr lang="en-US" sz="1900" dirty="0"/>
          </a:p>
        </p:txBody>
      </p:sp>
      <p:sp>
        <p:nvSpPr>
          <p:cNvPr id="10" name="Text 8"/>
          <p:cNvSpPr/>
          <p:nvPr/>
        </p:nvSpPr>
        <p:spPr>
          <a:xfrm>
            <a:off x="9067573" y="3519432"/>
            <a:ext cx="251453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Stock Processing →</a:t>
            </a:r>
            <a:endParaRPr lang="en-US" sz="1900" dirty="0"/>
          </a:p>
        </p:txBody>
      </p:sp>
      <p:sp>
        <p:nvSpPr>
          <p:cNvPr id="11" name="Text 9"/>
          <p:cNvSpPr/>
          <p:nvPr/>
        </p:nvSpPr>
        <p:spPr>
          <a:xfrm>
            <a:off x="6248244" y="4142724"/>
            <a:ext cx="2514537"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Low-Stock Detection →</a:t>
            </a:r>
            <a:endParaRPr lang="en-US" sz="1900" dirty="0"/>
          </a:p>
        </p:txBody>
      </p:sp>
      <p:sp>
        <p:nvSpPr>
          <p:cNvPr id="12" name="Text 10"/>
          <p:cNvSpPr/>
          <p:nvPr/>
        </p:nvSpPr>
        <p:spPr>
          <a:xfrm>
            <a:off x="9067573" y="4142724"/>
            <a:ext cx="251453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Reorder Report</a:t>
            </a:r>
            <a:endParaRPr lang="en-US" sz="1900" dirty="0"/>
          </a:p>
        </p:txBody>
      </p:sp>
      <p:sp>
        <p:nvSpPr>
          <p:cNvPr id="13" name="Text 11"/>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1822"/>
            <a:ext cx="751821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THE OPERATING PROBLEM</a:t>
            </a:r>
            <a:endParaRPr lang="en-US" sz="1100" dirty="0"/>
          </a:p>
        </p:txBody>
      </p:sp>
      <p:sp>
        <p:nvSpPr>
          <p:cNvPr id="3" name="Text 1"/>
          <p:cNvSpPr/>
          <p:nvPr/>
        </p:nvSpPr>
        <p:spPr>
          <a:xfrm>
            <a:off x="609585" y="911566"/>
            <a:ext cx="6908627" cy="1195784"/>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Manual stock tracking creates avoidable delays</a:t>
            </a:r>
            <a:endParaRPr lang="en-US" sz="4400" dirty="0"/>
          </a:p>
        </p:txBody>
      </p:sp>
      <p:sp>
        <p:nvSpPr>
          <p:cNvPr id="4" name="Shape 2"/>
          <p:cNvSpPr/>
          <p:nvPr/>
        </p:nvSpPr>
        <p:spPr>
          <a:xfrm>
            <a:off x="609585" y="2309217"/>
            <a:ext cx="1727058" cy="31651"/>
          </a:xfrm>
          <a:prstGeom prst="roundRect">
            <a:avLst>
              <a:gd name="adj" fmla="val 49998"/>
            </a:avLst>
          </a:prstGeom>
          <a:solidFill>
            <a:srgbClr val="9BE1FF"/>
          </a:solidFill>
          <a:ln/>
        </p:spPr>
      </p:sp>
      <p:sp>
        <p:nvSpPr>
          <p:cNvPr id="5" name="Text 3"/>
          <p:cNvSpPr/>
          <p:nvPr/>
        </p:nvSpPr>
        <p:spPr>
          <a:xfrm>
            <a:off x="609585" y="2566329"/>
            <a:ext cx="7518212"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9D9D9D"/>
                </a:solidFill>
                <a:latin typeface="Exo" pitchFamily="34" charset="0"/>
                <a:ea typeface="Exo" pitchFamily="34" charset="-122"/>
                <a:cs typeface="Exo" pitchFamily="34" charset="-120"/>
              </a:rPr>
              <a:t>record → validate → detect → report</a:t>
            </a:r>
            <a:endParaRPr lang="en-US" sz="1100" dirty="0"/>
          </a:p>
        </p:txBody>
      </p:sp>
      <p:pic>
        <p:nvPicPr>
          <p:cNvPr id="6" name="Image 0" descr="preencoded.png">    </p:cNvPr>
          <p:cNvPicPr>
            <a:picLocks noChangeAspect="1"/>
          </p:cNvPicPr>
          <p:nvPr/>
        </p:nvPicPr>
        <p:blipFill>
          <a:blip r:embed="rId1"/>
          <a:stretch>
            <a:fillRect/>
          </a:stretch>
        </p:blipFill>
        <p:spPr>
          <a:xfrm>
            <a:off x="634984" y="2926941"/>
            <a:ext cx="380990" cy="381000"/>
          </a:xfrm>
          <a:prstGeom prst="rect">
            <a:avLst/>
          </a:prstGeom>
        </p:spPr>
      </p:pic>
      <p:sp>
        <p:nvSpPr>
          <p:cNvPr id="7" name="Text 4"/>
          <p:cNvSpPr/>
          <p:nvPr/>
        </p:nvSpPr>
        <p:spPr>
          <a:xfrm>
            <a:off x="1219170" y="2928287"/>
            <a:ext cx="6299042"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Record</a:t>
            </a:r>
            <a:endParaRPr lang="en-US" sz="1900" dirty="0"/>
          </a:p>
        </p:txBody>
      </p:sp>
      <p:sp>
        <p:nvSpPr>
          <p:cNvPr id="8" name="Text 5"/>
          <p:cNvSpPr/>
          <p:nvPr/>
        </p:nvSpPr>
        <p:spPr>
          <a:xfrm>
            <a:off x="1219170" y="3388320"/>
            <a:ext cx="6299042"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Manual entries can create stock-count errors and inconsistent updates.</a:t>
            </a:r>
            <a:endParaRPr lang="en-US" sz="1500" dirty="0"/>
          </a:p>
        </p:txBody>
      </p:sp>
      <p:pic>
        <p:nvPicPr>
          <p:cNvPr id="9" name="Image 1" descr="preencoded.png">    </p:cNvPr>
          <p:cNvPicPr>
            <a:picLocks noChangeAspect="1"/>
          </p:cNvPicPr>
          <p:nvPr/>
        </p:nvPicPr>
        <p:blipFill>
          <a:blip r:embed="rId2"/>
          <a:stretch>
            <a:fillRect/>
          </a:stretch>
        </p:blipFill>
        <p:spPr>
          <a:xfrm>
            <a:off x="634984" y="4014379"/>
            <a:ext cx="380990" cy="381000"/>
          </a:xfrm>
          <a:prstGeom prst="rect">
            <a:avLst/>
          </a:prstGeom>
        </p:spPr>
      </p:pic>
      <p:sp>
        <p:nvSpPr>
          <p:cNvPr id="10" name="Text 6"/>
          <p:cNvSpPr/>
          <p:nvPr/>
        </p:nvSpPr>
        <p:spPr>
          <a:xfrm>
            <a:off x="1219170" y="4015724"/>
            <a:ext cx="6299042"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Detect</a:t>
            </a:r>
            <a:endParaRPr lang="en-US" sz="1900" dirty="0"/>
          </a:p>
        </p:txBody>
      </p:sp>
      <p:sp>
        <p:nvSpPr>
          <p:cNvPr id="11" name="Text 7"/>
          <p:cNvSpPr/>
          <p:nvPr/>
        </p:nvSpPr>
        <p:spPr>
          <a:xfrm>
            <a:off x="1219170" y="4475758"/>
            <a:ext cx="6299042"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Low-stock items are easy to miss until an order is urgent.</a:t>
            </a:r>
            <a:endParaRPr lang="en-US" sz="1500" dirty="0"/>
          </a:p>
        </p:txBody>
      </p:sp>
      <p:pic>
        <p:nvPicPr>
          <p:cNvPr id="12" name="Image 2" descr="preencoded.png">    </p:cNvPr>
          <p:cNvPicPr>
            <a:picLocks noChangeAspect="1"/>
          </p:cNvPicPr>
          <p:nvPr/>
        </p:nvPicPr>
        <p:blipFill>
          <a:blip r:embed="rId3"/>
          <a:stretch>
            <a:fillRect/>
          </a:stretch>
        </p:blipFill>
        <p:spPr>
          <a:xfrm>
            <a:off x="634984" y="5101816"/>
            <a:ext cx="380990" cy="381000"/>
          </a:xfrm>
          <a:prstGeom prst="rect">
            <a:avLst/>
          </a:prstGeom>
        </p:spPr>
      </p:pic>
      <p:sp>
        <p:nvSpPr>
          <p:cNvPr id="13" name="Text 8"/>
          <p:cNvSpPr/>
          <p:nvPr/>
        </p:nvSpPr>
        <p:spPr>
          <a:xfrm>
            <a:off x="1219170" y="5103162"/>
            <a:ext cx="6299042"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Report</a:t>
            </a:r>
            <a:endParaRPr lang="en-US" sz="1900" dirty="0"/>
          </a:p>
        </p:txBody>
      </p:sp>
      <p:sp>
        <p:nvSpPr>
          <p:cNvPr id="14" name="Text 9"/>
          <p:cNvSpPr/>
          <p:nvPr/>
        </p:nvSpPr>
        <p:spPr>
          <a:xfrm>
            <a:off x="1219170" y="5563195"/>
            <a:ext cx="6299042"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Replenishment decisions are delayed when reports are assembled by hand.</a:t>
            </a:r>
            <a:endParaRPr lang="en-US" sz="1500" dirty="0"/>
          </a:p>
        </p:txBody>
      </p:sp>
      <p:pic>
        <p:nvPicPr>
          <p:cNvPr id="15" name="Image 3" descr="preencoded.png">    </p:cNvPr>
          <p:cNvPicPr>
            <a:picLocks noChangeAspect="1"/>
          </p:cNvPicPr>
          <p:nvPr/>
        </p:nvPicPr>
        <p:blipFill>
          <a:blip r:embed="rId4"/>
          <a:stretch>
            <a:fillRect/>
          </a:stretch>
        </p:blipFill>
        <p:spPr>
          <a:xfrm>
            <a:off x="8127797" y="0"/>
            <a:ext cx="4063898" cy="6858000"/>
          </a:xfrm>
          <a:prstGeom prst="rect">
            <a:avLst/>
          </a:prstGeom>
        </p:spPr>
      </p:pic>
      <p:sp>
        <p:nvSpPr>
          <p:cNvPr id="16" name="Shape 10"/>
          <p:cNvSpPr/>
          <p:nvPr/>
        </p:nvSpPr>
        <p:spPr>
          <a:xfrm>
            <a:off x="609585" y="3830241"/>
            <a:ext cx="6908627" cy="12700"/>
          </a:xfrm>
          <a:prstGeom prst="rect">
            <a:avLst/>
          </a:prstGeom>
          <a:solidFill>
            <a:srgbClr val="3F3F3F"/>
          </a:solidFill>
          <a:ln/>
        </p:spPr>
      </p:sp>
      <p:sp>
        <p:nvSpPr>
          <p:cNvPr id="17" name="Shape 11"/>
          <p:cNvSpPr/>
          <p:nvPr/>
        </p:nvSpPr>
        <p:spPr>
          <a:xfrm>
            <a:off x="609585" y="4917678"/>
            <a:ext cx="6908627" cy="12700"/>
          </a:xfrm>
          <a:prstGeom prst="rect">
            <a:avLst/>
          </a:prstGeom>
          <a:solidFill>
            <a:srgbClr val="3F3F3F"/>
          </a:solidFill>
          <a:ln/>
        </p:spPr>
      </p:sp>
      <p:sp>
        <p:nvSpPr>
          <p:cNvPr id="18" name="Text 12"/>
          <p:cNvSpPr/>
          <p:nvPr/>
        </p:nvSpPr>
        <p:spPr>
          <a:xfrm>
            <a:off x="190594" y="6458545"/>
            <a:ext cx="79095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2241"/>
            <a:ext cx="11582110" cy="160834"/>
          </a:xfrm>
          <a:prstGeom prst="rect">
            <a:avLst/>
          </a:prstGeom>
          <a:noFill/>
          <a:ln/>
        </p:spPr>
        <p:txBody>
          <a:bodyPr wrap="none" lIns="0" tIns="0" rIns="0" bIns="0" rtlCol="0" anchor="t"/>
          <a:lstStyle/>
          <a:p>
            <a:pPr algn="l" indent="0" marL="0">
              <a:lnSpc>
                <a:spcPct val="108000"/>
              </a:lnSpc>
              <a:buNone/>
            </a:pPr>
            <a:r>
              <a:rPr lang="en-US" sz="950" spc="83" kern="100" dirty="0">
                <a:solidFill>
                  <a:srgbClr val="B5B5B5"/>
                </a:solidFill>
                <a:latin typeface="Fira Mono Medium" pitchFamily="34" charset="0"/>
                <a:ea typeface="Fira Mono Medium" pitchFamily="34" charset="-122"/>
                <a:cs typeface="Fira Mono Medium" pitchFamily="34" charset="-120"/>
              </a:rPr>
              <a:t>THE PROPOSED WORKFLOW</a:t>
            </a:r>
            <a:endParaRPr lang="en-US" sz="950" dirty="0"/>
          </a:p>
        </p:txBody>
      </p:sp>
      <p:sp>
        <p:nvSpPr>
          <p:cNvPr id="3" name="Text 1"/>
          <p:cNvSpPr/>
          <p:nvPr/>
        </p:nvSpPr>
        <p:spPr>
          <a:xfrm>
            <a:off x="609585" y="866910"/>
            <a:ext cx="10972526" cy="1059259"/>
          </a:xfrm>
          <a:prstGeom prst="rect">
            <a:avLst/>
          </a:prstGeom>
          <a:noFill/>
          <a:ln/>
        </p:spPr>
        <p:txBody>
          <a:bodyPr wrap="square" lIns="0" tIns="0" rIns="0" bIns="0" rtlCol="0" anchor="t">
            <a:normAutofit/>
          </a:bodyPr>
          <a:lstStyle/>
          <a:p>
            <a:pPr algn="l" indent="0" marL="0">
              <a:lnSpc>
                <a:spcPct val="89000"/>
              </a:lnSpc>
              <a:buNone/>
            </a:pPr>
            <a:r>
              <a:rPr lang="en-US" sz="3900" spc="-47" kern="100" dirty="0">
                <a:solidFill>
                  <a:srgbClr val="ECECEC"/>
                </a:solidFill>
                <a:latin typeface="Exo SemiBold" pitchFamily="34" charset="0"/>
                <a:ea typeface="Exo SemiBold" pitchFamily="34" charset="-122"/>
                <a:cs typeface="Exo SemiBold" pitchFamily="34" charset="-120"/>
              </a:rPr>
              <a:t>The system turns routine stock work into four clear actions</a:t>
            </a:r>
            <a:endParaRPr lang="en-US" sz="3900" dirty="0"/>
          </a:p>
        </p:txBody>
      </p:sp>
      <p:sp>
        <p:nvSpPr>
          <p:cNvPr id="4" name="Shape 2"/>
          <p:cNvSpPr/>
          <p:nvPr/>
        </p:nvSpPr>
        <p:spPr>
          <a:xfrm>
            <a:off x="609585" y="2088555"/>
            <a:ext cx="2743131" cy="19050"/>
          </a:xfrm>
          <a:prstGeom prst="roundRect">
            <a:avLst>
              <a:gd name="adj" fmla="val 49999"/>
            </a:avLst>
          </a:prstGeom>
          <a:solidFill>
            <a:srgbClr val="9BE1FF"/>
          </a:solidFill>
          <a:ln/>
        </p:spPr>
      </p:sp>
      <p:sp>
        <p:nvSpPr>
          <p:cNvPr id="5" name="Text 3"/>
          <p:cNvSpPr/>
          <p:nvPr/>
        </p:nvSpPr>
        <p:spPr>
          <a:xfrm>
            <a:off x="609585" y="2289274"/>
            <a:ext cx="11582110" cy="271066"/>
          </a:xfrm>
          <a:prstGeom prst="rect">
            <a:avLst/>
          </a:prstGeom>
          <a:noFill/>
          <a:ln/>
        </p:spPr>
        <p:txBody>
          <a:bodyPr wrap="none" lIns="0" tIns="0" rIns="0" bIns="0" rtlCol="0" anchor="t"/>
          <a:lstStyle/>
          <a:p>
            <a:pPr algn="l" indent="0" marL="0">
              <a:lnSpc>
                <a:spcPct val="112000"/>
              </a:lnSpc>
              <a:buNone/>
            </a:pPr>
            <a:r>
              <a:rPr lang="en-US" sz="1600" dirty="0">
                <a:solidFill>
                  <a:srgbClr val="D5D5D5"/>
                </a:solidFill>
                <a:latin typeface="Exo" pitchFamily="34" charset="0"/>
                <a:ea typeface="Exo" pitchFamily="34" charset="-122"/>
                <a:cs typeface="Exo" pitchFamily="34" charset="-120"/>
              </a:rPr>
              <a:t>A menu-driven Java program keeps each inventory operation visible and repeatable.</a:t>
            </a:r>
            <a:endParaRPr lang="en-US" sz="1600" dirty="0"/>
          </a:p>
        </p:txBody>
      </p:sp>
      <p:sp>
        <p:nvSpPr>
          <p:cNvPr id="6" name="Text 4"/>
          <p:cNvSpPr/>
          <p:nvPr/>
        </p:nvSpPr>
        <p:spPr>
          <a:xfrm>
            <a:off x="609585" y="2700737"/>
            <a:ext cx="5333867" cy="282079"/>
          </a:xfrm>
          <a:prstGeom prst="rect">
            <a:avLst/>
          </a:prstGeom>
          <a:noFill/>
          <a:ln/>
        </p:spPr>
        <p:txBody>
          <a:bodyPr wrap="none" lIns="0" tIns="0" rIns="0" bIns="0" rtlCol="0" anchor="t"/>
          <a:lstStyle/>
          <a:p>
            <a:pPr algn="l" indent="0" marL="0">
              <a:lnSpc>
                <a:spcPct val="110000"/>
              </a:lnSpc>
              <a:buNone/>
            </a:pPr>
            <a:r>
              <a:rPr lang="en-US" sz="1700" dirty="0">
                <a:solidFill>
                  <a:srgbClr val="D5D5D5"/>
                </a:solidFill>
                <a:latin typeface="Exo" pitchFamily="34" charset="0"/>
                <a:ea typeface="Exo" pitchFamily="34" charset="-122"/>
                <a:cs typeface="Exo" pitchFamily="34" charset="-120"/>
              </a:rPr>
              <a:t>Add stock</a:t>
            </a:r>
            <a:endParaRPr lang="en-US" sz="1700" dirty="0"/>
          </a:p>
        </p:txBody>
      </p:sp>
      <p:sp>
        <p:nvSpPr>
          <p:cNvPr id="7" name="Text 5"/>
          <p:cNvSpPr/>
          <p:nvPr/>
        </p:nvSpPr>
        <p:spPr>
          <a:xfrm>
            <a:off x="609585" y="3094696"/>
            <a:ext cx="5333867" cy="225921"/>
          </a:xfrm>
          <a:prstGeom prst="rect">
            <a:avLst/>
          </a:prstGeom>
          <a:noFill/>
          <a:ln/>
        </p:spPr>
        <p:txBody>
          <a:bodyPr wrap="none" lIns="0" tIns="0" rIns="0" bIns="0" rtlCol="0" anchor="t"/>
          <a:lstStyle/>
          <a:p>
            <a:pPr algn="l" indent="0" marL="0">
              <a:lnSpc>
                <a:spcPct val="112000"/>
              </a:lnSpc>
              <a:buNone/>
            </a:pPr>
            <a:r>
              <a:rPr lang="en-US" sz="1350" dirty="0">
                <a:solidFill>
                  <a:srgbClr val="D5D5D5"/>
                </a:solidFill>
                <a:latin typeface="Exo" pitchFamily="34" charset="0"/>
                <a:ea typeface="Exo" pitchFamily="34" charset="-122"/>
                <a:cs typeface="Exo" pitchFamily="34" charset="-120"/>
              </a:rPr>
              <a:t>Increase the quantity for an item.</a:t>
            </a:r>
            <a:endParaRPr lang="en-US" sz="1350" dirty="0"/>
          </a:p>
        </p:txBody>
      </p:sp>
      <p:sp>
        <p:nvSpPr>
          <p:cNvPr id="8" name="Text 6"/>
          <p:cNvSpPr/>
          <p:nvPr/>
        </p:nvSpPr>
        <p:spPr>
          <a:xfrm>
            <a:off x="6248244" y="2700737"/>
            <a:ext cx="5333867" cy="282079"/>
          </a:xfrm>
          <a:prstGeom prst="rect">
            <a:avLst/>
          </a:prstGeom>
          <a:noFill/>
          <a:ln/>
        </p:spPr>
        <p:txBody>
          <a:bodyPr wrap="none" lIns="0" tIns="0" rIns="0" bIns="0" rtlCol="0" anchor="t"/>
          <a:lstStyle/>
          <a:p>
            <a:pPr algn="l" indent="0" marL="0">
              <a:lnSpc>
                <a:spcPct val="110000"/>
              </a:lnSpc>
              <a:buNone/>
            </a:pPr>
            <a:r>
              <a:rPr lang="en-US" sz="1700" dirty="0">
                <a:solidFill>
                  <a:srgbClr val="D5D5D5"/>
                </a:solidFill>
                <a:latin typeface="Exo" pitchFamily="34" charset="0"/>
                <a:ea typeface="Exo" pitchFamily="34" charset="-122"/>
                <a:cs typeface="Exo" pitchFamily="34" charset="-120"/>
              </a:rPr>
              <a:t>Remove stock</a:t>
            </a:r>
            <a:endParaRPr lang="en-US" sz="1700" dirty="0"/>
          </a:p>
        </p:txBody>
      </p:sp>
      <p:sp>
        <p:nvSpPr>
          <p:cNvPr id="9" name="Text 7"/>
          <p:cNvSpPr/>
          <p:nvPr/>
        </p:nvSpPr>
        <p:spPr>
          <a:xfrm>
            <a:off x="6248244" y="3094696"/>
            <a:ext cx="5333867" cy="225921"/>
          </a:xfrm>
          <a:prstGeom prst="rect">
            <a:avLst/>
          </a:prstGeom>
          <a:noFill/>
          <a:ln/>
        </p:spPr>
        <p:txBody>
          <a:bodyPr wrap="none" lIns="0" tIns="0" rIns="0" bIns="0" rtlCol="0" anchor="t"/>
          <a:lstStyle/>
          <a:p>
            <a:pPr algn="l" indent="0" marL="0">
              <a:lnSpc>
                <a:spcPct val="112000"/>
              </a:lnSpc>
              <a:buNone/>
            </a:pPr>
            <a:r>
              <a:rPr lang="en-US" sz="1350" dirty="0">
                <a:solidFill>
                  <a:srgbClr val="D5D5D5"/>
                </a:solidFill>
                <a:latin typeface="Exo" pitchFamily="34" charset="0"/>
                <a:ea typeface="Exo" pitchFamily="34" charset="-122"/>
                <a:cs typeface="Exo" pitchFamily="34" charset="-120"/>
              </a:rPr>
              <a:t>Reduce quantity after an issue or sale.</a:t>
            </a:r>
            <a:endParaRPr lang="en-US" sz="1350" dirty="0"/>
          </a:p>
        </p:txBody>
      </p:sp>
      <p:sp>
        <p:nvSpPr>
          <p:cNvPr id="10" name="Text 8"/>
          <p:cNvSpPr/>
          <p:nvPr/>
        </p:nvSpPr>
        <p:spPr>
          <a:xfrm>
            <a:off x="609585" y="3625654"/>
            <a:ext cx="5333867" cy="282079"/>
          </a:xfrm>
          <a:prstGeom prst="rect">
            <a:avLst/>
          </a:prstGeom>
          <a:noFill/>
          <a:ln/>
        </p:spPr>
        <p:txBody>
          <a:bodyPr wrap="none" lIns="0" tIns="0" rIns="0" bIns="0" rtlCol="0" anchor="t"/>
          <a:lstStyle/>
          <a:p>
            <a:pPr algn="l" indent="0" marL="0">
              <a:lnSpc>
                <a:spcPct val="110000"/>
              </a:lnSpc>
              <a:buNone/>
            </a:pPr>
            <a:r>
              <a:rPr lang="en-US" sz="1700" dirty="0">
                <a:solidFill>
                  <a:srgbClr val="D5D5D5"/>
                </a:solidFill>
                <a:latin typeface="Exo" pitchFamily="34" charset="0"/>
                <a:ea typeface="Exo" pitchFamily="34" charset="-122"/>
                <a:cs typeface="Exo" pitchFamily="34" charset="-120"/>
              </a:rPr>
              <a:t>Display inventory</a:t>
            </a:r>
            <a:endParaRPr lang="en-US" sz="1700" dirty="0"/>
          </a:p>
        </p:txBody>
      </p:sp>
      <p:sp>
        <p:nvSpPr>
          <p:cNvPr id="11" name="Text 9"/>
          <p:cNvSpPr/>
          <p:nvPr/>
        </p:nvSpPr>
        <p:spPr>
          <a:xfrm>
            <a:off x="609585" y="4019613"/>
            <a:ext cx="5333867" cy="225921"/>
          </a:xfrm>
          <a:prstGeom prst="rect">
            <a:avLst/>
          </a:prstGeom>
          <a:noFill/>
          <a:ln/>
        </p:spPr>
        <p:txBody>
          <a:bodyPr wrap="none" lIns="0" tIns="0" rIns="0" bIns="0" rtlCol="0" anchor="t"/>
          <a:lstStyle/>
          <a:p>
            <a:pPr algn="l" indent="0" marL="0">
              <a:lnSpc>
                <a:spcPct val="112000"/>
              </a:lnSpc>
              <a:buNone/>
            </a:pPr>
            <a:r>
              <a:rPr lang="en-US" sz="1350" dirty="0">
                <a:solidFill>
                  <a:srgbClr val="D5D5D5"/>
                </a:solidFill>
                <a:latin typeface="Exo" pitchFamily="34" charset="0"/>
                <a:ea typeface="Exo" pitchFamily="34" charset="-122"/>
                <a:cs typeface="Exo" pitchFamily="34" charset="-120"/>
              </a:rPr>
              <a:t>Review current item records.</a:t>
            </a:r>
            <a:endParaRPr lang="en-US" sz="1350" dirty="0"/>
          </a:p>
        </p:txBody>
      </p:sp>
      <p:sp>
        <p:nvSpPr>
          <p:cNvPr id="12" name="Text 10"/>
          <p:cNvSpPr/>
          <p:nvPr/>
        </p:nvSpPr>
        <p:spPr>
          <a:xfrm>
            <a:off x="6248244" y="3625654"/>
            <a:ext cx="5333867" cy="282079"/>
          </a:xfrm>
          <a:prstGeom prst="rect">
            <a:avLst/>
          </a:prstGeom>
          <a:noFill/>
          <a:ln/>
        </p:spPr>
        <p:txBody>
          <a:bodyPr wrap="none" lIns="0" tIns="0" rIns="0" bIns="0" rtlCol="0" anchor="t"/>
          <a:lstStyle/>
          <a:p>
            <a:pPr algn="l" indent="0" marL="0">
              <a:lnSpc>
                <a:spcPct val="110000"/>
              </a:lnSpc>
              <a:buNone/>
            </a:pPr>
            <a:r>
              <a:rPr lang="en-US" sz="1700" dirty="0">
                <a:solidFill>
                  <a:srgbClr val="D5D5D5"/>
                </a:solidFill>
                <a:latin typeface="Exo" pitchFamily="34" charset="0"/>
                <a:ea typeface="Exo" pitchFamily="34" charset="-122"/>
                <a:cs typeface="Exo" pitchFamily="34" charset="-120"/>
              </a:rPr>
              <a:t>Reorder report</a:t>
            </a:r>
            <a:endParaRPr lang="en-US" sz="1700" dirty="0"/>
          </a:p>
        </p:txBody>
      </p:sp>
      <p:sp>
        <p:nvSpPr>
          <p:cNvPr id="13" name="Text 11"/>
          <p:cNvSpPr/>
          <p:nvPr/>
        </p:nvSpPr>
        <p:spPr>
          <a:xfrm>
            <a:off x="6248244" y="4019613"/>
            <a:ext cx="5333867" cy="225921"/>
          </a:xfrm>
          <a:prstGeom prst="rect">
            <a:avLst/>
          </a:prstGeom>
          <a:noFill/>
          <a:ln/>
        </p:spPr>
        <p:txBody>
          <a:bodyPr wrap="none" lIns="0" tIns="0" rIns="0" bIns="0" rtlCol="0" anchor="t"/>
          <a:lstStyle/>
          <a:p>
            <a:pPr algn="l" indent="0" marL="0">
              <a:lnSpc>
                <a:spcPct val="112000"/>
              </a:lnSpc>
              <a:buNone/>
            </a:pPr>
            <a:r>
              <a:rPr lang="en-US" sz="1350" dirty="0">
                <a:solidFill>
                  <a:srgbClr val="D5D5D5"/>
                </a:solidFill>
                <a:latin typeface="Exo" pitchFamily="34" charset="0"/>
                <a:ea typeface="Exo" pitchFamily="34" charset="-122"/>
                <a:cs typeface="Exo" pitchFamily="34" charset="-120"/>
              </a:rPr>
              <a:t>Flag items at or below threshold.</a:t>
            </a:r>
            <a:endParaRPr lang="en-US" sz="1350" dirty="0"/>
          </a:p>
        </p:txBody>
      </p:sp>
      <p:sp>
        <p:nvSpPr>
          <p:cNvPr id="14" name="Shape 12"/>
          <p:cNvSpPr/>
          <p:nvPr/>
        </p:nvSpPr>
        <p:spPr>
          <a:xfrm>
            <a:off x="609585" y="4508996"/>
            <a:ext cx="3818239" cy="269974"/>
          </a:xfrm>
          <a:prstGeom prst="roundRect">
            <a:avLst>
              <a:gd name="adj" fmla="val 4234"/>
            </a:avLst>
          </a:prstGeom>
          <a:noFill/>
          <a:ln w="6350">
            <a:solidFill>
              <a:srgbClr val="DADADA"/>
            </a:solidFill>
            <a:prstDash val="solid"/>
          </a:ln>
        </p:spPr>
      </p:sp>
      <p:sp>
        <p:nvSpPr>
          <p:cNvPr id="15" name="Text 13"/>
          <p:cNvSpPr/>
          <p:nvPr/>
        </p:nvSpPr>
        <p:spPr>
          <a:xfrm>
            <a:off x="710785" y="4574557"/>
            <a:ext cx="4225422" cy="168771"/>
          </a:xfrm>
          <a:prstGeom prst="rect">
            <a:avLst/>
          </a:prstGeom>
          <a:noFill/>
          <a:ln/>
        </p:spPr>
        <p:txBody>
          <a:bodyPr wrap="none" lIns="0" tIns="0" rIns="0" bIns="0" rtlCol="0" anchor="t"/>
          <a:lstStyle/>
          <a:p>
            <a:pPr algn="l" indent="0" marL="0">
              <a:lnSpc>
                <a:spcPct val="104000"/>
              </a:lnSpc>
              <a:buNone/>
            </a:pPr>
            <a:r>
              <a:rPr lang="en-US" sz="1050" spc="170" kern="100" dirty="0">
                <a:solidFill>
                  <a:srgbClr val="DADADA"/>
                </a:solidFill>
                <a:latin typeface="Michroma" pitchFamily="34" charset="0"/>
                <a:ea typeface="Michroma" pitchFamily="34" charset="-122"/>
                <a:cs typeface="Michroma" pitchFamily="34" charset="-120"/>
              </a:rPr>
              <a:t>ILLUSTRATIVE SAMPLE VALUES</a:t>
            </a:r>
            <a:endParaRPr lang="en-US" sz="1050" dirty="0"/>
          </a:p>
        </p:txBody>
      </p:sp>
      <p:sp>
        <p:nvSpPr>
          <p:cNvPr id="16" name="Text 14"/>
          <p:cNvSpPr/>
          <p:nvPr/>
        </p:nvSpPr>
        <p:spPr>
          <a:xfrm>
            <a:off x="609585" y="4843612"/>
            <a:ext cx="10972526" cy="371277"/>
          </a:xfrm>
          <a:prstGeom prst="rect">
            <a:avLst/>
          </a:prstGeom>
          <a:noFill/>
          <a:ln/>
        </p:spPr>
        <p:txBody>
          <a:bodyPr wrap="none" lIns="0" tIns="0" rIns="0" bIns="0" rtlCol="0" anchor="t"/>
          <a:lstStyle/>
          <a:p>
            <a:pPr algn="l" indent="0" marL="0">
              <a:lnSpc>
                <a:spcPct val="110000"/>
              </a:lnSpc>
              <a:buNone/>
            </a:pPr>
            <a:r>
              <a:rPr lang="en-US" sz="2200" dirty="0">
                <a:solidFill>
                  <a:srgbClr val="D5D5D5"/>
                </a:solidFill>
                <a:latin typeface="Exo" pitchFamily="34" charset="0"/>
                <a:ea typeface="Exo" pitchFamily="34" charset="-122"/>
                <a:cs typeface="Exo" pitchFamily="34" charset="-120"/>
              </a:rPr>
              <a:t>Inventory snapshot</a:t>
            </a:r>
            <a:endParaRPr lang="en-US" sz="2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5324574"/>
          <a:ext cx="10972526" cy="914400"/>
        </p:xfrm>
        <a:graphic>
          <a:graphicData uri="http://schemas.openxmlformats.org/drawingml/2006/table">
            <a:tbl>
              <a:tblPr/>
              <a:tblGrid>
                <a:gridCol w="1974999"/>
                <a:gridCol w="2523665"/>
                <a:gridCol w="1755533"/>
                <a:gridCol w="2523665"/>
                <a:gridCol w="2194664"/>
              </a:tblGrid>
              <a:tr h="367695">
                <a:tc>
                  <a:txBody>
                    <a:bodyPr/>
                    <a:lstStyle/>
                    <a:p>
                      <a:pPr algn="l" indent="0" marL="0">
                        <a:buNone/>
                      </a:pPr>
                      <a:r>
                        <a:rPr lang="en-US" sz="950" spc="112" kern="100" dirty="0">
                          <a:solidFill>
                            <a:srgbClr val="DADADA"/>
                          </a:solidFill>
                          <a:latin typeface="Michroma" pitchFamily="34" charset="0"/>
                          <a:ea typeface="Michroma" pitchFamily="34" charset="-122"/>
                          <a:cs typeface="Michroma" pitchFamily="34" charset="-120"/>
                        </a:rPr>
                        <a:t>ITEM ID</a:t>
                      </a:r>
                      <a:endParaRPr lang="en-US" sz="9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950" spc="112" kern="100" dirty="0">
                          <a:solidFill>
                            <a:srgbClr val="DADADA"/>
                          </a:solidFill>
                          <a:latin typeface="Michroma" pitchFamily="34" charset="0"/>
                          <a:ea typeface="Michroma" pitchFamily="34" charset="-122"/>
                          <a:cs typeface="Michroma" pitchFamily="34" charset="-120"/>
                        </a:rPr>
                        <a:t>ITEM NAME</a:t>
                      </a:r>
                      <a:endParaRPr lang="en-US" sz="9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950" spc="112" kern="100" dirty="0">
                          <a:solidFill>
                            <a:srgbClr val="DADADA"/>
                          </a:solidFill>
                          <a:latin typeface="Michroma" pitchFamily="34" charset="0"/>
                          <a:ea typeface="Michroma" pitchFamily="34" charset="-122"/>
                          <a:cs typeface="Michroma" pitchFamily="34" charset="-120"/>
                        </a:rPr>
                        <a:t>QUANTITY</a:t>
                      </a:r>
                      <a:endParaRPr lang="en-US" sz="9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950" spc="112" kern="100" dirty="0">
                          <a:solidFill>
                            <a:srgbClr val="DADADA"/>
                          </a:solidFill>
                          <a:latin typeface="Michroma" pitchFamily="34" charset="0"/>
                          <a:ea typeface="Michroma" pitchFamily="34" charset="-122"/>
                          <a:cs typeface="Michroma" pitchFamily="34" charset="-120"/>
                        </a:rPr>
                        <a:t>REORDER LEVEL</a:t>
                      </a:r>
                      <a:endParaRPr lang="en-US" sz="9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950" spc="112" kern="100" dirty="0">
                          <a:solidFill>
                            <a:srgbClr val="DADADA"/>
                          </a:solidFill>
                          <a:latin typeface="Michroma" pitchFamily="34" charset="0"/>
                          <a:ea typeface="Michroma" pitchFamily="34" charset="-122"/>
                          <a:cs typeface="Michroma" pitchFamily="34" charset="-120"/>
                        </a:rPr>
                        <a:t>STATUS</a:t>
                      </a:r>
                      <a:endParaRPr lang="en-US" sz="950" dirty="0">
                        <a:latin typeface="Michroma" charset="0"/>
                        <a:ea typeface="Michroma" charset="0"/>
                        <a:cs typeface="Michroma"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35460">
                <a:tc>
                  <a:txBody>
                    <a:bodyPr/>
                    <a:lstStyle/>
                    <a:p>
                      <a:pPr algn="l" indent="0" marL="0">
                        <a:buNone/>
                      </a:pPr>
                      <a:r>
                        <a:rPr lang="en-US" sz="1350" dirty="0">
                          <a:solidFill>
                            <a:srgbClr val="D5D5D5"/>
                          </a:solidFill>
                          <a:latin typeface="Exo" pitchFamily="34" charset="0"/>
                          <a:ea typeface="Exo" pitchFamily="34" charset="-122"/>
                          <a:cs typeface="Exo" pitchFamily="34" charset="-120"/>
                        </a:rPr>
                        <a:t>ITM101</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Keyboard</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18</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10</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350" dirty="0">
                          <a:solidFill>
                            <a:srgbClr val="9BE1FF"/>
                          </a:solidFill>
                          <a:latin typeface="Exo" pitchFamily="34" charset="0"/>
                          <a:ea typeface="Exo" pitchFamily="34" charset="-122"/>
                          <a:cs typeface="Exo" pitchFamily="34" charset="-120"/>
                        </a:rPr>
                        <a:t>OK</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110">
                <a:tc>
                  <a:txBody>
                    <a:bodyPr/>
                    <a:lstStyle/>
                    <a:p>
                      <a:pPr algn="l" indent="0" marL="0">
                        <a:buNone/>
                      </a:pPr>
                      <a:r>
                        <a:rPr lang="en-US" sz="1350" dirty="0">
                          <a:solidFill>
                            <a:srgbClr val="D5D5D5"/>
                          </a:solidFill>
                          <a:latin typeface="Exo" pitchFamily="34" charset="0"/>
                          <a:ea typeface="Exo" pitchFamily="34" charset="-122"/>
                          <a:cs typeface="Exo" pitchFamily="34" charset="-120"/>
                        </a:rPr>
                        <a:t>ITM102</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Mouse</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6</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350" dirty="0">
                          <a:solidFill>
                            <a:srgbClr val="D5D5D5"/>
                          </a:solidFill>
                          <a:latin typeface="Exo" pitchFamily="34" charset="0"/>
                          <a:ea typeface="Exo" pitchFamily="34" charset="-122"/>
                          <a:cs typeface="Exo" pitchFamily="34" charset="-120"/>
                        </a:rPr>
                        <a:t>12</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350" dirty="0">
                          <a:solidFill>
                            <a:srgbClr val="B5B5B5"/>
                          </a:solidFill>
                          <a:latin typeface="Exo" pitchFamily="34" charset="0"/>
                          <a:ea typeface="Exo" pitchFamily="34" charset="-122"/>
                          <a:cs typeface="Exo" pitchFamily="34" charset="-120"/>
                        </a:rPr>
                        <a:t>REORDER</a:t>
                      </a:r>
                      <a:endParaRPr lang="en-US" sz="1350" dirty="0">
                        <a:latin typeface="Exo" charset="0"/>
                        <a:ea typeface="Exo" charset="0"/>
                        <a:cs typeface="Exo" charset="0"/>
                      </a:endParaRPr>
                    </a:p>
                  </a:txBody>
                  <a:tcPr marL="177796" marR="177796" marT="101598" marB="1015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r>
            </a:tbl>
          </a:graphicData>
        </a:graphic>
      </p:graphicFrame>
      <p:sp>
        <p:nvSpPr>
          <p:cNvPr id="18" name="Text 15"/>
          <p:cNvSpPr/>
          <p:nvPr/>
        </p:nvSpPr>
        <p:spPr>
          <a:xfrm>
            <a:off x="609585" y="6698395"/>
            <a:ext cx="11582110" cy="163314"/>
          </a:xfrm>
          <a:prstGeom prst="rect">
            <a:avLst/>
          </a:prstGeom>
          <a:noFill/>
          <a:ln/>
        </p:spPr>
        <p:txBody>
          <a:bodyPr wrap="none" lIns="0" tIns="0" rIns="0" bIns="0" rtlCol="0" anchor="t"/>
          <a:lstStyle/>
          <a:p>
            <a:pPr algn="l" indent="0" marL="0">
              <a:lnSpc>
                <a:spcPct val="110000"/>
              </a:lnSpc>
              <a:buNone/>
            </a:pPr>
            <a:r>
              <a:rPr lang="en-US" sz="950" spc="10" kern="100" dirty="0">
                <a:solidFill>
                  <a:srgbClr val="9D9D9D"/>
                </a:solidFill>
                <a:latin typeface="Exo" pitchFamily="34" charset="0"/>
                <a:ea typeface="Exo" pitchFamily="34" charset="-122"/>
                <a:cs typeface="Exo" pitchFamily="34" charset="-120"/>
              </a:rPr>
              <a:t>These values are illustrative examples, not implementation results.</a:t>
            </a:r>
            <a:endParaRPr lang="en-US" sz="950" dirty="0"/>
          </a:p>
        </p:txBody>
      </p:sp>
      <p:sp>
        <p:nvSpPr>
          <p:cNvPr id="19" name="Text 16"/>
          <p:cNvSpPr/>
          <p:nvPr/>
        </p:nvSpPr>
        <p:spPr>
          <a:xfrm>
            <a:off x="11840370" y="6469261"/>
            <a:ext cx="351325" cy="167779"/>
          </a:xfrm>
          <a:prstGeom prst="rect">
            <a:avLst/>
          </a:prstGeom>
          <a:noFill/>
          <a:ln/>
        </p:spPr>
        <p:txBody>
          <a:bodyPr wrap="none" lIns="0" tIns="0" rIns="0" bIns="0" rtlCol="0" anchor="ctr"/>
          <a:lstStyle/>
          <a:p>
            <a:pPr algn="l" indent="0" marL="0">
              <a:lnSpc>
                <a:spcPct val="118000"/>
              </a:lnSpc>
              <a:buNone/>
            </a:pPr>
            <a:r>
              <a:rPr lang="en-US" sz="950" spc="74" kern="100" dirty="0">
                <a:solidFill>
                  <a:srgbClr val="9D9D9D"/>
                </a:solidFill>
                <a:latin typeface="Fira Mono" pitchFamily="34" charset="0"/>
                <a:ea typeface="Fira Mono" pitchFamily="34" charset="-122"/>
                <a:cs typeface="Fira Mono"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0934"/>
            <a:ext cx="11582110" cy="108942"/>
          </a:xfrm>
          <a:prstGeom prst="rect">
            <a:avLst/>
          </a:prstGeom>
          <a:noFill/>
          <a:ln/>
        </p:spPr>
        <p:txBody>
          <a:bodyPr wrap="none" lIns="0" tIns="0" rIns="0" bIns="0" rtlCol="0" anchor="t"/>
          <a:lstStyle/>
          <a:p>
            <a:pPr algn="l" indent="0" marL="0">
              <a:lnSpc>
                <a:spcPct val="108000"/>
              </a:lnSpc>
              <a:buNone/>
            </a:pPr>
            <a:r>
              <a:rPr lang="en-US" sz="650" spc="56" kern="100" dirty="0">
                <a:solidFill>
                  <a:srgbClr val="B5B5B5"/>
                </a:solidFill>
                <a:latin typeface="Fira Mono Medium" pitchFamily="34" charset="0"/>
                <a:ea typeface="Fira Mono Medium" pitchFamily="34" charset="-122"/>
                <a:cs typeface="Fira Mono Medium" pitchFamily="34" charset="-120"/>
              </a:rPr>
              <a:t>SYSTEM LOGIC</a:t>
            </a:r>
            <a:endParaRPr lang="en-US" sz="650" dirty="0"/>
          </a:p>
        </p:txBody>
      </p:sp>
      <p:sp>
        <p:nvSpPr>
          <p:cNvPr id="3" name="Text 1"/>
          <p:cNvSpPr/>
          <p:nvPr/>
        </p:nvSpPr>
        <p:spPr>
          <a:xfrm>
            <a:off x="609585" y="766967"/>
            <a:ext cx="10972526" cy="358676"/>
          </a:xfrm>
          <a:prstGeom prst="rect">
            <a:avLst/>
          </a:prstGeom>
          <a:noFill/>
          <a:ln/>
        </p:spPr>
        <p:txBody>
          <a:bodyPr wrap="none" lIns="0" tIns="0" rIns="0" bIns="0" rtlCol="0" anchor="t"/>
          <a:lstStyle/>
          <a:p>
            <a:pPr algn="l" indent="0" marL="0">
              <a:lnSpc>
                <a:spcPct val="89000"/>
              </a:lnSpc>
              <a:buNone/>
            </a:pPr>
            <a:r>
              <a:rPr lang="en-US" sz="2650" spc="-32" kern="100" dirty="0">
                <a:solidFill>
                  <a:srgbClr val="ECECEC"/>
                </a:solidFill>
                <a:latin typeface="Exo SemiBold" pitchFamily="34" charset="0"/>
                <a:ea typeface="Exo SemiBold" pitchFamily="34" charset="-122"/>
                <a:cs typeface="Exo SemiBold" pitchFamily="34" charset="-120"/>
              </a:rPr>
              <a:t>Every transaction follows a repeatable decision loop</a:t>
            </a:r>
            <a:endParaRPr lang="en-US" sz="2650" dirty="0"/>
          </a:p>
        </p:txBody>
      </p:sp>
      <p:sp>
        <p:nvSpPr>
          <p:cNvPr id="4" name="Text 2"/>
          <p:cNvSpPr/>
          <p:nvPr/>
        </p:nvSpPr>
        <p:spPr>
          <a:xfrm>
            <a:off x="609585" y="4192334"/>
            <a:ext cx="4541426" cy="108942"/>
          </a:xfrm>
          <a:prstGeom prst="rect">
            <a:avLst/>
          </a:prstGeom>
          <a:noFill/>
          <a:ln/>
        </p:spPr>
        <p:txBody>
          <a:bodyPr wrap="none" lIns="0" tIns="0" rIns="0" bIns="0" rtlCol="0" anchor="t"/>
          <a:lstStyle/>
          <a:p>
            <a:pPr algn="l" indent="0" marL="0">
              <a:lnSpc>
                <a:spcPct val="108000"/>
              </a:lnSpc>
              <a:buNone/>
            </a:pPr>
            <a:r>
              <a:rPr lang="en-US" sz="650" spc="56" kern="100" dirty="0">
                <a:solidFill>
                  <a:srgbClr val="B5B5B5"/>
                </a:solidFill>
                <a:latin typeface="Fira Mono Medium" pitchFamily="34" charset="0"/>
                <a:ea typeface="Fira Mono Medium" pitchFamily="34" charset="-122"/>
                <a:cs typeface="Fira Mono Medium" pitchFamily="34" charset="-120"/>
              </a:rPr>
              <a:t>IPO MODEL</a:t>
            </a:r>
            <a:endParaRPr lang="en-US" sz="650" dirty="0"/>
          </a:p>
        </p:txBody>
      </p:sp>
      <p:sp>
        <p:nvSpPr>
          <p:cNvPr id="5" name="Text 3"/>
          <p:cNvSpPr/>
          <p:nvPr/>
        </p:nvSpPr>
        <p:spPr>
          <a:xfrm>
            <a:off x="609585" y="4363938"/>
            <a:ext cx="3931841" cy="517327"/>
          </a:xfrm>
          <a:prstGeom prst="rect">
            <a:avLst/>
          </a:prstGeom>
          <a:noFill/>
          <a:ln/>
        </p:spPr>
        <p:txBody>
          <a:bodyPr wrap="square" lIns="0" tIns="0" rIns="0" bIns="0" rtlCol="0" anchor="t"/>
          <a:lstStyle/>
          <a:p>
            <a:pPr algn="l" indent="0" marL="0">
              <a:lnSpc>
                <a:spcPct val="95000"/>
              </a:lnSpc>
              <a:spcAft>
                <a:spcPts val="500"/>
              </a:spcAft>
              <a:buNone/>
            </a:pPr>
            <a:r>
              <a:rPr lang="en-US" sz="900" b="1" dirty="0">
                <a:solidFill>
                  <a:srgbClr val="D5D5D5"/>
                </a:solidFill>
                <a:latin typeface="Exo Bold" pitchFamily="34" charset="0"/>
                <a:ea typeface="Exo Bold" pitchFamily="34" charset="-122"/>
                <a:cs typeface="Exo Bold" pitchFamily="34" charset="-120"/>
              </a:rPr>
              <a:t>Input</a:t>
            </a:r>
            <a:pPr algn="l" indent="0" marL="0">
              <a:lnSpc>
                <a:spcPct val="95000"/>
              </a:lnSpc>
              <a:spcAft>
                <a:spcPts val="500"/>
              </a:spcAft>
              <a:buNone/>
            </a:pPr>
            <a:r>
              <a:rPr lang="en-US" sz="900" dirty="0">
                <a:solidFill>
                  <a:srgbClr val="D5D5D5"/>
                </a:solidFill>
                <a:latin typeface="Exo" pitchFamily="34" charset="0"/>
                <a:ea typeface="Exo" pitchFamily="34" charset="-122"/>
                <a:cs typeface="Exo" pitchFamily="34" charset="-120"/>
              </a:rPr>
              <a:t> — Choice, item ID, quantity</a:t>
            </a:r>
            <a:endParaRPr lang="en-US" sz="900" dirty="0"/>
          </a:p>
          <a:p>
            <a:pPr algn="l" indent="0" marL="0">
              <a:lnSpc>
                <a:spcPct val="95000"/>
              </a:lnSpc>
              <a:spcAft>
                <a:spcPts val="500"/>
              </a:spcAft>
              <a:buNone/>
            </a:pPr>
            <a:r>
              <a:rPr lang="en-US" sz="900" b="1" dirty="0">
                <a:solidFill>
                  <a:srgbClr val="D5D5D5"/>
                </a:solidFill>
                <a:latin typeface="Exo Bold" pitchFamily="34" charset="0"/>
                <a:ea typeface="Exo Bold" pitchFamily="34" charset="-122"/>
                <a:cs typeface="Exo Bold" pitchFamily="34" charset="-120"/>
              </a:rPr>
              <a:t>Process</a:t>
            </a:r>
            <a:pPr algn="l" indent="0" marL="0">
              <a:lnSpc>
                <a:spcPct val="95000"/>
              </a:lnSpc>
              <a:spcAft>
                <a:spcPts val="500"/>
              </a:spcAft>
              <a:buNone/>
            </a:pPr>
            <a:r>
              <a:rPr lang="en-US" sz="900" dirty="0">
                <a:solidFill>
                  <a:srgbClr val="D5D5D5"/>
                </a:solidFill>
                <a:latin typeface="Exo" pitchFamily="34" charset="0"/>
                <a:ea typeface="Exo" pitchFamily="34" charset="-122"/>
                <a:cs typeface="Exo" pitchFamily="34" charset="-120"/>
              </a:rPr>
              <a:t> — Validate input, update stock, compare threshold</a:t>
            </a:r>
            <a:endParaRPr lang="en-US" sz="900" dirty="0"/>
          </a:p>
          <a:p>
            <a:pPr algn="l" indent="0" marL="0">
              <a:lnSpc>
                <a:spcPct val="95000"/>
              </a:lnSpc>
              <a:buNone/>
            </a:pPr>
            <a:r>
              <a:rPr lang="en-US" sz="900" b="1" dirty="0">
                <a:solidFill>
                  <a:srgbClr val="D5D5D5"/>
                </a:solidFill>
                <a:latin typeface="Exo Bold" pitchFamily="34" charset="0"/>
                <a:ea typeface="Exo Bold" pitchFamily="34" charset="-122"/>
                <a:cs typeface="Exo Bold" pitchFamily="34" charset="-120"/>
              </a:rPr>
              <a:t>Output</a:t>
            </a:r>
            <a:pPr algn="l" indent="0" marL="0">
              <a:lnSpc>
                <a:spcPct val="95000"/>
              </a:lnSpc>
              <a:buNone/>
            </a:pPr>
            <a:r>
              <a:rPr lang="en-US" sz="900" dirty="0">
                <a:solidFill>
                  <a:srgbClr val="D5D5D5"/>
                </a:solidFill>
                <a:latin typeface="Exo" pitchFamily="34" charset="0"/>
                <a:ea typeface="Exo" pitchFamily="34" charset="-122"/>
                <a:cs typeface="Exo" pitchFamily="34" charset="-120"/>
              </a:rPr>
              <a:t> — Inventory view or reorder result</a:t>
            </a:r>
            <a:endParaRPr lang="en-US" sz="900" dirty="0"/>
          </a:p>
        </p:txBody>
      </p:sp>
      <p:sp>
        <p:nvSpPr>
          <p:cNvPr id="6" name="Text 4"/>
          <p:cNvSpPr/>
          <p:nvPr/>
        </p:nvSpPr>
        <p:spPr>
          <a:xfrm>
            <a:off x="609585" y="5002411"/>
            <a:ext cx="3931841" cy="251420"/>
          </a:xfrm>
          <a:prstGeom prst="rect">
            <a:avLst/>
          </a:prstGeom>
          <a:noFill/>
          <a:ln/>
        </p:spPr>
        <p:txBody>
          <a:bodyPr wrap="none" lIns="0" tIns="0" rIns="0" bIns="0" rtlCol="0" anchor="t"/>
          <a:lstStyle/>
          <a:p>
            <a:pPr algn="l" indent="0" marL="0">
              <a:lnSpc>
                <a:spcPct val="110000"/>
              </a:lnSpc>
              <a:buNone/>
            </a:pPr>
            <a:r>
              <a:rPr lang="en-US" sz="1500" dirty="0">
                <a:solidFill>
                  <a:srgbClr val="D5D5D5"/>
                </a:solidFill>
                <a:latin typeface="Exo" pitchFamily="34" charset="0"/>
                <a:ea typeface="Exo" pitchFamily="34" charset="-122"/>
                <a:cs typeface="Exo" pitchFamily="34" charset="-120"/>
              </a:rPr>
              <a:t>Pseudocode</a:t>
            </a:r>
            <a:endParaRPr lang="en-US" sz="1500" dirty="0"/>
          </a:p>
        </p:txBody>
      </p:sp>
      <p:sp>
        <p:nvSpPr>
          <p:cNvPr id="7" name="Shape 5"/>
          <p:cNvSpPr/>
          <p:nvPr/>
        </p:nvSpPr>
        <p:spPr>
          <a:xfrm>
            <a:off x="609585" y="5382419"/>
            <a:ext cx="3931841" cy="1508621"/>
          </a:xfrm>
          <a:prstGeom prst="roundRect">
            <a:avLst>
              <a:gd name="adj" fmla="val 758"/>
            </a:avLst>
          </a:prstGeom>
          <a:solidFill>
            <a:srgbClr val="0E1F40"/>
          </a:solidFill>
          <a:ln/>
        </p:spPr>
      </p:sp>
      <p:sp>
        <p:nvSpPr>
          <p:cNvPr id="8" name="Text 6"/>
          <p:cNvSpPr/>
          <p:nvPr/>
        </p:nvSpPr>
        <p:spPr>
          <a:xfrm>
            <a:off x="746702" y="5496719"/>
            <a:ext cx="3657608" cy="1280021"/>
          </a:xfrm>
          <a:prstGeom prst="rect">
            <a:avLst/>
          </a:prstGeom>
          <a:noFill/>
          <a:ln/>
        </p:spPr>
        <p:txBody>
          <a:bodyPr wrap="square" lIns="0" tIns="0" rIns="0" bIns="0" rtlCol="0" anchor="t">
            <a:normAutofit/>
          </a:bodyPr>
          <a:lstStyle/>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START</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initialize inventory</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display menu; read choice</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run selected operation</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validate input; update stock</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check threshold; display result</a:t>
            </a:r>
            <a:endParaRPr lang="en-US" sz="900" dirty="0"/>
          </a:p>
          <a:p>
            <a:pPr algn="l" indent="0" marL="0">
              <a:lnSpc>
                <a:spcPct val="133000"/>
              </a:lnSpc>
              <a:buNone/>
            </a:pPr>
            <a:r>
              <a:rPr lang="en-US" sz="900" dirty="0">
                <a:solidFill>
                  <a:srgbClr val="E6EDF3"/>
                </a:solidFill>
                <a:latin typeface="Consolas" pitchFamily="34" charset="0"/>
                <a:ea typeface="Consolas" pitchFamily="34" charset="-122"/>
                <a:cs typeface="Consolas" pitchFamily="34" charset="-120"/>
              </a:rPr>
              <a:t>repeat until choice = Exit</a:t>
            </a:r>
            <a:endParaRPr lang="en-US" sz="900" dirty="0"/>
          </a:p>
        </p:txBody>
      </p:sp>
      <p:sp>
        <p:nvSpPr>
          <p:cNvPr id="9" name="Shape 7"/>
          <p:cNvSpPr/>
          <p:nvPr/>
        </p:nvSpPr>
        <p:spPr>
          <a:xfrm>
            <a:off x="5455704" y="3581400"/>
            <a:ext cx="6735991" cy="3276600"/>
          </a:xfrm>
          <a:prstGeom prst="rect">
            <a:avLst/>
          </a:prstGeom>
          <a:solidFill>
            <a:srgbClr val="0E1F40"/>
          </a:solidFill>
          <a:ln/>
        </p:spPr>
      </p:sp>
      <p:pic>
        <p:nvPicPr>
          <p:cNvPr id="10" name="Image 0" descr="preencoded.png">    </p:cNvPr>
          <p:cNvPicPr>
            <a:picLocks noChangeAspect="1"/>
          </p:cNvPicPr>
          <p:nvPr/>
        </p:nvPicPr>
        <p:blipFill>
          <a:blip r:embed="rId1"/>
          <a:stretch>
            <a:fillRect/>
          </a:stretch>
        </p:blipFill>
        <p:spPr>
          <a:xfrm>
            <a:off x="6065289" y="4030166"/>
            <a:ext cx="5516821" cy="2379067"/>
          </a:xfrm>
          <a:prstGeom prst="rect">
            <a:avLst/>
          </a:prstGeom>
        </p:spPr>
      </p:pic>
      <p:sp>
        <p:nvSpPr>
          <p:cNvPr id="11" name="Text 8"/>
          <p:cNvSpPr/>
          <p:nvPr/>
        </p:nvSpPr>
        <p:spPr>
          <a:xfrm>
            <a:off x="6437851" y="4333426"/>
            <a:ext cx="3033902" cy="110627"/>
          </a:xfrm>
          <a:prstGeom prst="rect">
            <a:avLst/>
          </a:prstGeom>
          <a:noFill/>
          <a:ln/>
        </p:spPr>
        <p:txBody>
          <a:bodyPr wrap="none" lIns="0" tIns="0" rIns="0" bIns="0" rtlCol="0" anchor="t"/>
          <a:lstStyle/>
          <a:p>
            <a:pPr algn="l" indent="0" marL="0">
              <a:lnSpc>
                <a:spcPct val="110000"/>
              </a:lnSpc>
              <a:buNone/>
            </a:pPr>
            <a:r>
              <a:rPr lang="en-US" sz="650" spc="-8" kern="100" dirty="0">
                <a:solidFill>
                  <a:srgbClr val="000000"/>
                </a:solidFill>
                <a:latin typeface="Exo SemiBold" pitchFamily="34" charset="0"/>
                <a:ea typeface="Exo SemiBold" pitchFamily="34" charset="-122"/>
                <a:cs typeface="Exo SemiBold" pitchFamily="34" charset="-120"/>
              </a:rPr>
              <a:t>Initialize</a:t>
            </a:r>
            <a:endParaRPr lang="en-US" sz="650" dirty="0"/>
          </a:p>
        </p:txBody>
      </p:sp>
      <p:sp>
        <p:nvSpPr>
          <p:cNvPr id="12" name="Text 9"/>
          <p:cNvSpPr/>
          <p:nvPr/>
        </p:nvSpPr>
        <p:spPr>
          <a:xfrm>
            <a:off x="6437851" y="4885121"/>
            <a:ext cx="3033902" cy="110627"/>
          </a:xfrm>
          <a:prstGeom prst="rect">
            <a:avLst/>
          </a:prstGeom>
          <a:noFill/>
          <a:ln/>
        </p:spPr>
        <p:txBody>
          <a:bodyPr wrap="none" lIns="0" tIns="0" rIns="0" bIns="0" rtlCol="0" anchor="t"/>
          <a:lstStyle/>
          <a:p>
            <a:pPr algn="l" indent="0" marL="0">
              <a:lnSpc>
                <a:spcPct val="110000"/>
              </a:lnSpc>
              <a:buNone/>
            </a:pPr>
            <a:r>
              <a:rPr lang="en-US" sz="650" spc="-8" kern="100" dirty="0">
                <a:solidFill>
                  <a:srgbClr val="000000"/>
                </a:solidFill>
                <a:latin typeface="Exo SemiBold" pitchFamily="34" charset="0"/>
                <a:ea typeface="Exo SemiBold" pitchFamily="34" charset="-122"/>
                <a:cs typeface="Exo SemiBold" pitchFamily="34" charset="-120"/>
              </a:rPr>
              <a:t>Menu + Choice</a:t>
            </a:r>
            <a:endParaRPr lang="en-US" sz="650" dirty="0"/>
          </a:p>
        </p:txBody>
      </p:sp>
      <p:sp>
        <p:nvSpPr>
          <p:cNvPr id="13" name="Text 10"/>
          <p:cNvSpPr/>
          <p:nvPr/>
        </p:nvSpPr>
        <p:spPr>
          <a:xfrm>
            <a:off x="6437851" y="5431299"/>
            <a:ext cx="3033902" cy="110626"/>
          </a:xfrm>
          <a:prstGeom prst="rect">
            <a:avLst/>
          </a:prstGeom>
          <a:noFill/>
          <a:ln/>
        </p:spPr>
        <p:txBody>
          <a:bodyPr wrap="none" lIns="0" tIns="0" rIns="0" bIns="0" rtlCol="0" anchor="t"/>
          <a:lstStyle/>
          <a:p>
            <a:pPr algn="l" indent="0" marL="0">
              <a:lnSpc>
                <a:spcPct val="110000"/>
              </a:lnSpc>
              <a:buNone/>
            </a:pPr>
            <a:r>
              <a:rPr lang="en-US" sz="650" spc="-8" kern="100" dirty="0">
                <a:solidFill>
                  <a:srgbClr val="000000"/>
                </a:solidFill>
                <a:latin typeface="Exo SemiBold" pitchFamily="34" charset="0"/>
                <a:ea typeface="Exo SemiBold" pitchFamily="34" charset="-122"/>
                <a:cs typeface="Exo SemiBold" pitchFamily="34" charset="-120"/>
              </a:rPr>
              <a:t>Run, Validate &amp; Update</a:t>
            </a:r>
            <a:endParaRPr lang="en-US" sz="650" dirty="0"/>
          </a:p>
        </p:txBody>
      </p:sp>
      <p:sp>
        <p:nvSpPr>
          <p:cNvPr id="14" name="Text 11"/>
          <p:cNvSpPr/>
          <p:nvPr/>
        </p:nvSpPr>
        <p:spPr>
          <a:xfrm>
            <a:off x="6437851" y="5977477"/>
            <a:ext cx="3033902" cy="110626"/>
          </a:xfrm>
          <a:prstGeom prst="rect">
            <a:avLst/>
          </a:prstGeom>
          <a:noFill/>
          <a:ln/>
        </p:spPr>
        <p:txBody>
          <a:bodyPr wrap="none" lIns="0" tIns="0" rIns="0" bIns="0" rtlCol="0" anchor="t"/>
          <a:lstStyle/>
          <a:p>
            <a:pPr algn="l" indent="0" marL="0">
              <a:lnSpc>
                <a:spcPct val="110000"/>
              </a:lnSpc>
              <a:buNone/>
            </a:pPr>
            <a:r>
              <a:rPr lang="en-US" sz="650" spc="-8" kern="100" dirty="0">
                <a:solidFill>
                  <a:srgbClr val="000000"/>
                </a:solidFill>
                <a:latin typeface="Exo SemiBold" pitchFamily="34" charset="0"/>
                <a:ea typeface="Exo SemiBold" pitchFamily="34" charset="-122"/>
                <a:cs typeface="Exo SemiBold" pitchFamily="34" charset="-120"/>
              </a:rPr>
              <a:t>Check Threshold; Show Result; Repeat to Exit</a:t>
            </a:r>
            <a:endParaRPr lang="en-US" sz="650" dirty="0"/>
          </a:p>
        </p:txBody>
      </p:sp>
      <p:sp>
        <p:nvSpPr>
          <p:cNvPr id="15" name="Text 12"/>
          <p:cNvSpPr/>
          <p:nvPr/>
        </p:nvSpPr>
        <p:spPr>
          <a:xfrm>
            <a:off x="11892161" y="6496447"/>
            <a:ext cx="299534" cy="113506"/>
          </a:xfrm>
          <a:prstGeom prst="rect">
            <a:avLst/>
          </a:prstGeom>
          <a:noFill/>
          <a:ln/>
        </p:spPr>
        <p:txBody>
          <a:bodyPr wrap="none" lIns="0" tIns="0" rIns="0" bIns="0" rtlCol="0" anchor="ctr"/>
          <a:lstStyle/>
          <a:p>
            <a:pPr algn="l" indent="0" marL="0">
              <a:lnSpc>
                <a:spcPct val="118000"/>
              </a:lnSpc>
              <a:buNone/>
            </a:pPr>
            <a:r>
              <a:rPr lang="en-US" sz="650" spc="50" kern="100" dirty="0">
                <a:solidFill>
                  <a:srgbClr val="9D9D9D"/>
                </a:solidFill>
                <a:latin typeface="Fira Mono" pitchFamily="34" charset="0"/>
                <a:ea typeface="Fira Mono" pitchFamily="34" charset="-122"/>
                <a:cs typeface="Fira Mono" pitchFamily="34" charset="-120"/>
              </a:rPr>
              <a:t>05</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1822"/>
            <a:ext cx="7518212"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MODULE 1 · COMPUTATIONAL FOUNDATION</a:t>
            </a:r>
            <a:endParaRPr lang="en-US" sz="1100" dirty="0"/>
          </a:p>
        </p:txBody>
      </p:sp>
      <p:sp>
        <p:nvSpPr>
          <p:cNvPr id="3" name="Text 1"/>
          <p:cNvSpPr/>
          <p:nvPr/>
        </p:nvSpPr>
        <p:spPr>
          <a:xfrm>
            <a:off x="609585" y="904042"/>
            <a:ext cx="6908627" cy="951111"/>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Module 1 builds the computational foundation</a:t>
            </a:r>
            <a:endParaRPr lang="en-US" sz="3500" dirty="0"/>
          </a:p>
        </p:txBody>
      </p:sp>
      <p:sp>
        <p:nvSpPr>
          <p:cNvPr id="4" name="Shape 2"/>
          <p:cNvSpPr/>
          <p:nvPr/>
        </p:nvSpPr>
        <p:spPr>
          <a:xfrm>
            <a:off x="609585" y="2064544"/>
            <a:ext cx="1727058" cy="31651"/>
          </a:xfrm>
          <a:prstGeom prst="roundRect">
            <a:avLst>
              <a:gd name="adj" fmla="val 49998"/>
            </a:avLst>
          </a:prstGeom>
          <a:solidFill>
            <a:srgbClr val="9BE1FF"/>
          </a:solidFill>
          <a:ln/>
        </p:spPr>
      </p:sp>
      <p:sp>
        <p:nvSpPr>
          <p:cNvPr id="5" name="Text 3"/>
          <p:cNvSpPr/>
          <p:nvPr/>
        </p:nvSpPr>
        <p:spPr>
          <a:xfrm>
            <a:off x="609585" y="2320131"/>
            <a:ext cx="6908627" cy="649089"/>
          </a:xfrm>
          <a:prstGeom prst="rect">
            <a:avLst/>
          </a:prstGeom>
          <a:noFill/>
          <a:ln/>
        </p:spPr>
        <p:txBody>
          <a:bodyPr wrap="square" lIns="0" tIns="0" rIns="0" bIns="0" rtlCol="0" anchor="t">
            <a:normAutofit/>
          </a:bodyPr>
          <a:lstStyle/>
          <a:p>
            <a:pPr algn="l" indent="0" marL="0">
              <a:lnSpc>
                <a:spcPct val="118000"/>
              </a:lnSpc>
              <a:buNone/>
            </a:pPr>
            <a:r>
              <a:rPr lang="en-US" sz="1800" dirty="0">
                <a:solidFill>
                  <a:srgbClr val="D5D5D5"/>
                </a:solidFill>
                <a:latin typeface="Exo" pitchFamily="34" charset="0"/>
                <a:ea typeface="Exo" pitchFamily="34" charset="-122"/>
                <a:cs typeface="Exo" pitchFamily="34" charset="-120"/>
              </a:rPr>
              <a:t>Before writing Java, decompose the problem into input, processing, validation, and output.</a:t>
            </a:r>
            <a:endParaRPr lang="en-US" sz="1800" dirty="0"/>
          </a:p>
        </p:txBody>
      </p:sp>
      <p:sp>
        <p:nvSpPr>
          <p:cNvPr id="6" name="Text 4"/>
          <p:cNvSpPr/>
          <p:nvPr/>
        </p:nvSpPr>
        <p:spPr>
          <a:xfrm>
            <a:off x="609585" y="3148354"/>
            <a:ext cx="690862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Plan</a:t>
            </a:r>
            <a:endParaRPr lang="en-US" sz="1900" dirty="0"/>
          </a:p>
        </p:txBody>
      </p:sp>
      <p:sp>
        <p:nvSpPr>
          <p:cNvPr id="7" name="Text 5"/>
          <p:cNvSpPr/>
          <p:nvPr/>
        </p:nvSpPr>
        <p:spPr>
          <a:xfrm>
            <a:off x="609585" y="3608387"/>
            <a:ext cx="6908627"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Use algorithms and flowcharts before writing Java.</a:t>
            </a:r>
            <a:endParaRPr lang="en-US" sz="1500" dirty="0"/>
          </a:p>
        </p:txBody>
      </p:sp>
      <p:sp>
        <p:nvSpPr>
          <p:cNvPr id="8" name="Text 6"/>
          <p:cNvSpPr/>
          <p:nvPr/>
        </p:nvSpPr>
        <p:spPr>
          <a:xfrm>
            <a:off x="609585" y="4235791"/>
            <a:ext cx="690862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Represent</a:t>
            </a:r>
            <a:endParaRPr lang="en-US" sz="1900" dirty="0"/>
          </a:p>
        </p:txBody>
      </p:sp>
      <p:sp>
        <p:nvSpPr>
          <p:cNvPr id="9" name="Text 7"/>
          <p:cNvSpPr/>
          <p:nvPr/>
        </p:nvSpPr>
        <p:spPr>
          <a:xfrm>
            <a:off x="609585" y="4695825"/>
            <a:ext cx="6908627"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Choose variables, constants, primitive types, operators, and type casting.</a:t>
            </a:r>
            <a:endParaRPr lang="en-US" sz="1500" dirty="0"/>
          </a:p>
        </p:txBody>
      </p:sp>
      <p:sp>
        <p:nvSpPr>
          <p:cNvPr id="10" name="Text 8"/>
          <p:cNvSpPr/>
          <p:nvPr/>
        </p:nvSpPr>
        <p:spPr>
          <a:xfrm>
            <a:off x="609585" y="5323229"/>
            <a:ext cx="6908627"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Read and print</a:t>
            </a:r>
            <a:endParaRPr lang="en-US" sz="1900" dirty="0"/>
          </a:p>
        </p:txBody>
      </p:sp>
      <p:sp>
        <p:nvSpPr>
          <p:cNvPr id="11" name="Text 9"/>
          <p:cNvSpPr/>
          <p:nvPr/>
        </p:nvSpPr>
        <p:spPr>
          <a:xfrm>
            <a:off x="609585" y="5783263"/>
            <a:ext cx="6908627"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Use Scanner to read item quantity and print the updated quantity.</a:t>
            </a:r>
            <a:endParaRPr lang="en-US" sz="1500" dirty="0"/>
          </a:p>
        </p:txBody>
      </p:sp>
      <p:pic>
        <p:nvPicPr>
          <p:cNvPr id="12" name="Image 0" descr="preencoded.png">    </p:cNvPr>
          <p:cNvPicPr>
            <a:picLocks noChangeAspect="1"/>
          </p:cNvPicPr>
          <p:nvPr/>
        </p:nvPicPr>
        <p:blipFill>
          <a:blip r:embed="rId1"/>
          <a:stretch>
            <a:fillRect/>
          </a:stretch>
        </p:blipFill>
        <p:spPr>
          <a:xfrm>
            <a:off x="8127797" y="0"/>
            <a:ext cx="4063898" cy="6858000"/>
          </a:xfrm>
          <a:prstGeom prst="rect">
            <a:avLst/>
          </a:prstGeom>
        </p:spPr>
      </p:pic>
      <p:sp>
        <p:nvSpPr>
          <p:cNvPr id="13" name="Shape 10"/>
          <p:cNvSpPr/>
          <p:nvPr/>
        </p:nvSpPr>
        <p:spPr>
          <a:xfrm>
            <a:off x="609585" y="4050308"/>
            <a:ext cx="6908627" cy="12700"/>
          </a:xfrm>
          <a:prstGeom prst="rect">
            <a:avLst/>
          </a:prstGeom>
          <a:solidFill>
            <a:srgbClr val="3F3F3F"/>
          </a:solidFill>
          <a:ln/>
        </p:spPr>
      </p:sp>
      <p:sp>
        <p:nvSpPr>
          <p:cNvPr id="14" name="Shape 11"/>
          <p:cNvSpPr/>
          <p:nvPr/>
        </p:nvSpPr>
        <p:spPr>
          <a:xfrm>
            <a:off x="609585" y="5137745"/>
            <a:ext cx="6908627" cy="12700"/>
          </a:xfrm>
          <a:prstGeom prst="rect">
            <a:avLst/>
          </a:prstGeom>
          <a:solidFill>
            <a:srgbClr val="3F3F3F"/>
          </a:solidFill>
          <a:ln/>
        </p:spPr>
      </p:sp>
      <p:sp>
        <p:nvSpPr>
          <p:cNvPr id="15" name="Text 12"/>
          <p:cNvSpPr/>
          <p:nvPr/>
        </p:nvSpPr>
        <p:spPr>
          <a:xfrm>
            <a:off x="190594" y="6458545"/>
            <a:ext cx="790952"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1822"/>
            <a:ext cx="5486263"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MODULE 2 · DECISIONS</a:t>
            </a:r>
            <a:endParaRPr lang="en-US" sz="1100" dirty="0"/>
          </a:p>
        </p:txBody>
      </p:sp>
      <p:sp>
        <p:nvSpPr>
          <p:cNvPr id="3" name="Text 1"/>
          <p:cNvSpPr/>
          <p:nvPr/>
        </p:nvSpPr>
        <p:spPr>
          <a:xfrm>
            <a:off x="609585" y="911566"/>
            <a:ext cx="4876678" cy="1793677"/>
          </a:xfrm>
          <a:prstGeom prst="rect">
            <a:avLst/>
          </a:prstGeom>
          <a:noFill/>
          <a:ln/>
        </p:spPr>
        <p:txBody>
          <a:bodyPr wrap="square" lIns="0" tIns="0" rIns="0" bIns="0" rtlCol="0" anchor="t">
            <a:normAutofit/>
          </a:bodyPr>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Module 2 turns rules into menu decisions</a:t>
            </a:r>
            <a:endParaRPr lang="en-US" sz="4400" dirty="0"/>
          </a:p>
        </p:txBody>
      </p:sp>
      <p:sp>
        <p:nvSpPr>
          <p:cNvPr id="4" name="Shape 2"/>
          <p:cNvSpPr/>
          <p:nvPr/>
        </p:nvSpPr>
        <p:spPr>
          <a:xfrm>
            <a:off x="609585" y="2908697"/>
            <a:ext cx="1219170" cy="12601"/>
          </a:xfrm>
          <a:prstGeom prst="roundRect">
            <a:avLst>
              <a:gd name="adj" fmla="val 49998"/>
            </a:avLst>
          </a:prstGeom>
          <a:solidFill>
            <a:srgbClr val="9BE1FF"/>
          </a:solidFill>
          <a:ln/>
        </p:spPr>
      </p:sp>
      <p:sp>
        <p:nvSpPr>
          <p:cNvPr id="5" name="Text 3"/>
          <p:cNvSpPr/>
          <p:nvPr/>
        </p:nvSpPr>
        <p:spPr>
          <a:xfrm>
            <a:off x="609585" y="3386534"/>
            <a:ext cx="3217881"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ADADA"/>
                </a:solidFill>
                <a:latin typeface="Michroma" pitchFamily="34" charset="0"/>
                <a:ea typeface="Michroma" pitchFamily="34" charset="-122"/>
                <a:cs typeface="Michroma" pitchFamily="34" charset="-120"/>
              </a:rPr>
              <a:t>CONDITIONAL LOGIC</a:t>
            </a:r>
            <a:endParaRPr lang="en-US" sz="1200" dirty="0"/>
          </a:p>
        </p:txBody>
      </p:sp>
      <p:sp>
        <p:nvSpPr>
          <p:cNvPr id="6" name="Text 4"/>
          <p:cNvSpPr/>
          <p:nvPr/>
        </p:nvSpPr>
        <p:spPr>
          <a:xfrm>
            <a:off x="609585" y="3689747"/>
            <a:ext cx="4876678"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Thresholds and validation</a:t>
            </a:r>
            <a:endParaRPr lang="en-US" sz="2500" dirty="0"/>
          </a:p>
        </p:txBody>
      </p:sp>
      <p:sp>
        <p:nvSpPr>
          <p:cNvPr id="7" name="Text 5"/>
          <p:cNvSpPr/>
          <p:nvPr/>
        </p:nvSpPr>
        <p:spPr>
          <a:xfrm>
            <a:off x="609585" y="4251722"/>
            <a:ext cx="4876678" cy="1259681"/>
          </a:xfrm>
          <a:prstGeom prst="rect">
            <a:avLst/>
          </a:prstGeom>
          <a:noFill/>
          <a:ln/>
        </p:spPr>
        <p:txBody>
          <a:bodyPr wrap="square" lIns="0" tIns="0" rIns="0" bIns="0" rtlCol="0" anchor="t">
            <a:normAutofit/>
          </a:bodyPr>
          <a:lstStyle/>
          <a:p>
            <a:pPr algn="l" indent="0" marL="0">
              <a:lnSpc>
                <a:spcPct val="118000"/>
              </a:lnSpc>
              <a:spcAft>
                <a:spcPts val="1350"/>
              </a:spcAft>
              <a:buNone/>
            </a:pPr>
            <a:r>
              <a:rPr lang="en-US" sz="1500" b="1" dirty="0">
                <a:solidFill>
                  <a:srgbClr val="D5D5D5"/>
                </a:solidFill>
                <a:latin typeface="Exo Bold" pitchFamily="34" charset="0"/>
                <a:ea typeface="Exo Bold" pitchFamily="34" charset="-122"/>
                <a:cs typeface="Exo Bold" pitchFamily="34" charset="-120"/>
              </a:rPr>
              <a:t>if</a:t>
            </a:r>
            <a:pPr algn="l" indent="0" marL="0">
              <a:lnSpc>
                <a:spcPct val="118000"/>
              </a:lnSpc>
              <a:spcAft>
                <a:spcPts val="1350"/>
              </a:spcAft>
              <a:buNone/>
            </a:pPr>
            <a:r>
              <a:rPr lang="en-US" sz="1500" dirty="0">
                <a:solidFill>
                  <a:srgbClr val="D5D5D5"/>
                </a:solidFill>
                <a:latin typeface="Exo" pitchFamily="34" charset="0"/>
                <a:ea typeface="Exo" pitchFamily="34" charset="-122"/>
                <a:cs typeface="Exo" pitchFamily="34" charset="-120"/>
              </a:rPr>
              <a:t> tests one condition; </a:t>
            </a:r>
            <a:pPr algn="l" indent="0" marL="0">
              <a:lnSpc>
                <a:spcPct val="118000"/>
              </a:lnSpc>
              <a:spcAft>
                <a:spcPts val="1350"/>
              </a:spcAft>
              <a:buNone/>
            </a:pPr>
            <a:r>
              <a:rPr lang="en-US" sz="1500" b="1" dirty="0">
                <a:solidFill>
                  <a:srgbClr val="D5D5D5"/>
                </a:solidFill>
                <a:latin typeface="Exo Bold" pitchFamily="34" charset="0"/>
                <a:ea typeface="Exo Bold" pitchFamily="34" charset="-122"/>
                <a:cs typeface="Exo Bold" pitchFamily="34" charset="-120"/>
              </a:rPr>
              <a:t>if–else</a:t>
            </a:r>
            <a:pPr algn="l" indent="0" marL="0">
              <a:lnSpc>
                <a:spcPct val="118000"/>
              </a:lnSpc>
              <a:spcAft>
                <a:spcPts val="1350"/>
              </a:spcAft>
              <a:buNone/>
            </a:pPr>
            <a:r>
              <a:rPr lang="en-US" sz="1500" dirty="0">
                <a:solidFill>
                  <a:srgbClr val="D5D5D5"/>
                </a:solidFill>
                <a:latin typeface="Exo" pitchFamily="34" charset="0"/>
                <a:ea typeface="Exo" pitchFamily="34" charset="-122"/>
                <a:cs typeface="Exo" pitchFamily="34" charset="-120"/>
              </a:rPr>
              <a:t> selects between two outcomes.</a:t>
            </a:r>
            <a:endParaRPr lang="en-US" sz="1500" dirty="0"/>
          </a:p>
          <a:p>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nested if</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handles dependent checks;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else–if</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handles multiple ranges.</a:t>
            </a:r>
            <a:endParaRPr lang="en-US" sz="1500" dirty="0"/>
          </a:p>
        </p:txBody>
      </p:sp>
      <p:sp>
        <p:nvSpPr>
          <p:cNvPr id="8" name="Text 6"/>
          <p:cNvSpPr/>
          <p:nvPr/>
        </p:nvSpPr>
        <p:spPr>
          <a:xfrm>
            <a:off x="6705432" y="690562"/>
            <a:ext cx="2611075"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ADADA"/>
                </a:solidFill>
                <a:latin typeface="Michroma" pitchFamily="34" charset="0"/>
                <a:ea typeface="Michroma" pitchFamily="34" charset="-122"/>
                <a:cs typeface="Michroma" pitchFamily="34" charset="-120"/>
              </a:rPr>
              <a:t>MENU ROUTING</a:t>
            </a:r>
            <a:endParaRPr lang="en-US" sz="1200" dirty="0"/>
          </a:p>
        </p:txBody>
      </p:sp>
      <p:sp>
        <p:nvSpPr>
          <p:cNvPr id="9" name="Text 7"/>
          <p:cNvSpPr/>
          <p:nvPr/>
        </p:nvSpPr>
        <p:spPr>
          <a:xfrm>
            <a:off x="6705432" y="993775"/>
            <a:ext cx="4876678" cy="419100"/>
          </a:xfrm>
          <a:prstGeom prst="rect">
            <a:avLst/>
          </a:prstGeom>
          <a:noFill/>
          <a:ln/>
        </p:spPr>
        <p:txBody>
          <a:bodyPr wrap="none" lIns="0" tIns="0" rIns="0" bIns="0" rtlCol="0" anchor="t"/>
          <a:lstStyle/>
          <a:p>
            <a:pPr algn="l" indent="0" marL="0">
              <a:lnSpc>
                <a:spcPct val="110000"/>
              </a:lnSpc>
              <a:buNone/>
            </a:pPr>
            <a:r>
              <a:rPr lang="en-US" sz="2500" dirty="0">
                <a:solidFill>
                  <a:srgbClr val="D5D5D5"/>
                </a:solidFill>
                <a:latin typeface="Exo" pitchFamily="34" charset="0"/>
                <a:ea typeface="Exo" pitchFamily="34" charset="-122"/>
                <a:cs typeface="Exo" pitchFamily="34" charset="-120"/>
              </a:rPr>
              <a:t>Switch choices</a:t>
            </a:r>
            <a:endParaRPr lang="en-US" sz="2500" dirty="0"/>
          </a:p>
        </p:txBody>
      </p:sp>
      <p:sp>
        <p:nvSpPr>
          <p:cNvPr id="10" name="Text 8"/>
          <p:cNvSpPr/>
          <p:nvPr/>
        </p:nvSpPr>
        <p:spPr>
          <a:xfrm>
            <a:off x="6705432" y="1555750"/>
            <a:ext cx="5486263"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Add, Remove, Display, Reorder Report, and Exit.</a:t>
            </a:r>
            <a:endParaRPr lang="en-US" sz="1500" dirty="0"/>
          </a:p>
        </p:txBody>
      </p:sp>
      <p:sp>
        <p:nvSpPr>
          <p:cNvPr id="11" name="Shape 9"/>
          <p:cNvSpPr/>
          <p:nvPr/>
        </p:nvSpPr>
        <p:spPr>
          <a:xfrm>
            <a:off x="6705432" y="2040533"/>
            <a:ext cx="4876678" cy="3733800"/>
          </a:xfrm>
          <a:prstGeom prst="roundRect">
            <a:avLst>
              <a:gd name="adj" fmla="val 306"/>
            </a:avLst>
          </a:prstGeom>
          <a:solidFill>
            <a:srgbClr val="0E1F40"/>
          </a:solidFill>
          <a:ln/>
        </p:spPr>
      </p:sp>
      <p:sp>
        <p:nvSpPr>
          <p:cNvPr id="12" name="Text 10"/>
          <p:cNvSpPr/>
          <p:nvPr/>
        </p:nvSpPr>
        <p:spPr>
          <a:xfrm>
            <a:off x="6934027" y="2231033"/>
            <a:ext cx="4419489" cy="3352800"/>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if (quantity &lt;= reorderLevel)</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System.out.println("REORDER");</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else</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System.out.println("OK");</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switch (choice)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case 1 -&gt; addStock();</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case 2 -&gt; removeStock();</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case 3 -&gt; displayInventory();</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case 4 -&gt; generateReorderReport();</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case 5 -&gt; System.out.println("Exit");</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a:t>
            </a:r>
            <a:endParaRPr lang="en-US" sz="1500" dirty="0"/>
          </a:p>
        </p:txBody>
      </p:sp>
      <p:sp>
        <p:nvSpPr>
          <p:cNvPr id="13" name="Shape 11"/>
          <p:cNvSpPr/>
          <p:nvPr/>
        </p:nvSpPr>
        <p:spPr>
          <a:xfrm>
            <a:off x="6089498" y="0"/>
            <a:ext cx="12700" cy="6858000"/>
          </a:xfrm>
          <a:prstGeom prst="rect">
            <a:avLst/>
          </a:prstGeom>
          <a:solidFill>
            <a:srgbClr val="E8E8E8"/>
          </a:solidFill>
          <a:ln/>
        </p:spPr>
      </p:sp>
      <p:sp>
        <p:nvSpPr>
          <p:cNvPr id="14" name="Text 12"/>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1822"/>
            <a:ext cx="5257668"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MODULE 2 · CONTROL FLOW</a:t>
            </a:r>
            <a:endParaRPr lang="en-US" sz="1100" dirty="0"/>
          </a:p>
        </p:txBody>
      </p:sp>
      <p:sp>
        <p:nvSpPr>
          <p:cNvPr id="3" name="Text 1"/>
          <p:cNvSpPr/>
          <p:nvPr/>
        </p:nvSpPr>
        <p:spPr>
          <a:xfrm>
            <a:off x="609585" y="904042"/>
            <a:ext cx="4648084" cy="1426666"/>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Loops keep the menu running and the inventory searchable</a:t>
            </a:r>
            <a:endParaRPr lang="en-US" sz="3500" dirty="0"/>
          </a:p>
        </p:txBody>
      </p:sp>
      <p:sp>
        <p:nvSpPr>
          <p:cNvPr id="4" name="Shape 2"/>
          <p:cNvSpPr/>
          <p:nvPr/>
        </p:nvSpPr>
        <p:spPr>
          <a:xfrm>
            <a:off x="609585" y="2540099"/>
            <a:ext cx="1162021" cy="31651"/>
          </a:xfrm>
          <a:prstGeom prst="roundRect">
            <a:avLst>
              <a:gd name="adj" fmla="val 49998"/>
            </a:avLst>
          </a:prstGeom>
          <a:solidFill>
            <a:srgbClr val="9BE1FF"/>
          </a:solidFill>
          <a:ln/>
        </p:spPr>
      </p:sp>
      <p:sp>
        <p:nvSpPr>
          <p:cNvPr id="5" name="Text 3"/>
          <p:cNvSpPr/>
          <p:nvPr/>
        </p:nvSpPr>
        <p:spPr>
          <a:xfrm>
            <a:off x="609585" y="2797020"/>
            <a:ext cx="2095448"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do–while</a:t>
            </a:r>
            <a:endParaRPr lang="en-US" sz="1900" dirty="0"/>
          </a:p>
        </p:txBody>
      </p:sp>
      <p:sp>
        <p:nvSpPr>
          <p:cNvPr id="6" name="Text 4"/>
          <p:cNvSpPr/>
          <p:nvPr/>
        </p:nvSpPr>
        <p:spPr>
          <a:xfrm>
            <a:off x="609585" y="3257054"/>
            <a:ext cx="209544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Repeat the menu until Exit; run it at least once.</a:t>
            </a:r>
            <a:endParaRPr lang="en-US" sz="1500" dirty="0"/>
          </a:p>
        </p:txBody>
      </p:sp>
      <p:sp>
        <p:nvSpPr>
          <p:cNvPr id="7" name="Text 5"/>
          <p:cNvSpPr/>
          <p:nvPr/>
        </p:nvSpPr>
        <p:spPr>
          <a:xfrm>
            <a:off x="3162221" y="2797020"/>
            <a:ext cx="2095448"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for / while</a:t>
            </a:r>
            <a:endParaRPr lang="en-US" sz="1900" dirty="0"/>
          </a:p>
        </p:txBody>
      </p:sp>
      <p:sp>
        <p:nvSpPr>
          <p:cNvPr id="8" name="Text 6"/>
          <p:cNvSpPr/>
          <p:nvPr/>
        </p:nvSpPr>
        <p:spPr>
          <a:xfrm>
            <a:off x="3162221" y="3257054"/>
            <a:ext cx="209544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Scan every inventory record for low stock.</a:t>
            </a:r>
            <a:endParaRPr lang="en-US" sz="1500" dirty="0"/>
          </a:p>
        </p:txBody>
      </p:sp>
      <p:sp>
        <p:nvSpPr>
          <p:cNvPr id="9" name="Text 7"/>
          <p:cNvSpPr/>
          <p:nvPr/>
        </p:nvSpPr>
        <p:spPr>
          <a:xfrm>
            <a:off x="609585" y="4256528"/>
            <a:ext cx="2095448"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break</a:t>
            </a:r>
            <a:endParaRPr lang="en-US" sz="1900" dirty="0"/>
          </a:p>
        </p:txBody>
      </p:sp>
      <p:sp>
        <p:nvSpPr>
          <p:cNvPr id="10" name="Text 8"/>
          <p:cNvSpPr/>
          <p:nvPr/>
        </p:nvSpPr>
        <p:spPr>
          <a:xfrm>
            <a:off x="609585" y="4716562"/>
            <a:ext cx="209544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Exit when the user selects Exit.</a:t>
            </a:r>
            <a:endParaRPr lang="en-US" sz="1500" dirty="0"/>
          </a:p>
        </p:txBody>
      </p:sp>
      <p:sp>
        <p:nvSpPr>
          <p:cNvPr id="11" name="Text 9"/>
          <p:cNvSpPr/>
          <p:nvPr/>
        </p:nvSpPr>
        <p:spPr>
          <a:xfrm>
            <a:off x="3162221" y="4256528"/>
            <a:ext cx="2095448" cy="318492"/>
          </a:xfrm>
          <a:prstGeom prst="rect">
            <a:avLst/>
          </a:prstGeom>
          <a:noFill/>
          <a:ln/>
        </p:spPr>
        <p:txBody>
          <a:bodyPr wrap="none" lIns="0" tIns="0" rIns="0" bIns="0" rtlCol="0" anchor="t"/>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continue</a:t>
            </a:r>
            <a:endParaRPr lang="en-US" sz="1900" dirty="0"/>
          </a:p>
        </p:txBody>
      </p:sp>
      <p:sp>
        <p:nvSpPr>
          <p:cNvPr id="12" name="Text 10"/>
          <p:cNvSpPr/>
          <p:nvPr/>
        </p:nvSpPr>
        <p:spPr>
          <a:xfrm>
            <a:off x="3162221" y="4716562"/>
            <a:ext cx="2095448"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Skip invalid or unavailable records.</a:t>
            </a:r>
            <a:endParaRPr lang="en-US" sz="1500" dirty="0"/>
          </a:p>
        </p:txBody>
      </p:sp>
      <p:sp>
        <p:nvSpPr>
          <p:cNvPr id="13" name="Shape 11"/>
          <p:cNvSpPr/>
          <p:nvPr/>
        </p:nvSpPr>
        <p:spPr>
          <a:xfrm>
            <a:off x="6324442" y="0"/>
            <a:ext cx="5867253" cy="6858000"/>
          </a:xfrm>
          <a:prstGeom prst="rect">
            <a:avLst/>
          </a:prstGeom>
          <a:solidFill>
            <a:srgbClr val="0E1F40"/>
          </a:solidFill>
          <a:ln/>
        </p:spPr>
      </p:sp>
      <p:sp>
        <p:nvSpPr>
          <p:cNvPr id="14" name="Shape 12"/>
          <p:cNvSpPr/>
          <p:nvPr/>
        </p:nvSpPr>
        <p:spPr>
          <a:xfrm>
            <a:off x="6934027" y="609600"/>
            <a:ext cx="3606908" cy="304800"/>
          </a:xfrm>
          <a:prstGeom prst="roundRect">
            <a:avLst>
              <a:gd name="adj" fmla="val 3750"/>
            </a:avLst>
          </a:prstGeom>
          <a:solidFill>
            <a:srgbClr val="00364D"/>
          </a:solidFill>
          <a:ln/>
        </p:spPr>
      </p:sp>
      <p:sp>
        <p:nvSpPr>
          <p:cNvPr id="15" name="Text 13"/>
          <p:cNvSpPr/>
          <p:nvPr/>
        </p:nvSpPr>
        <p:spPr>
          <a:xfrm>
            <a:off x="7048324" y="690562"/>
            <a:ext cx="3987899"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5D5D5"/>
                </a:solidFill>
                <a:latin typeface="Michroma" pitchFamily="34" charset="0"/>
                <a:ea typeface="Michroma" pitchFamily="34" charset="-122"/>
                <a:cs typeface="Michroma" pitchFamily="34" charset="-120"/>
              </a:rPr>
              <a:t>COMPACT JAVA EXAMPLE</a:t>
            </a:r>
            <a:endParaRPr lang="en-US" sz="1200" dirty="0"/>
          </a:p>
        </p:txBody>
      </p:sp>
      <p:sp>
        <p:nvSpPr>
          <p:cNvPr id="16" name="Shape 14"/>
          <p:cNvSpPr/>
          <p:nvPr/>
        </p:nvSpPr>
        <p:spPr>
          <a:xfrm>
            <a:off x="6934027" y="1128713"/>
            <a:ext cx="4648084" cy="4038600"/>
          </a:xfrm>
          <a:prstGeom prst="roundRect">
            <a:avLst>
              <a:gd name="adj" fmla="val 283"/>
            </a:avLst>
          </a:prstGeom>
          <a:solidFill>
            <a:srgbClr val="0E1F40"/>
          </a:solidFill>
          <a:ln/>
        </p:spPr>
      </p:sp>
      <p:sp>
        <p:nvSpPr>
          <p:cNvPr id="17" name="Text 15"/>
          <p:cNvSpPr/>
          <p:nvPr/>
        </p:nvSpPr>
        <p:spPr>
          <a:xfrm>
            <a:off x="7162621" y="1319212"/>
            <a:ext cx="4190895" cy="3657600"/>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do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showMenu();</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choice = scanner.nextInt();</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if (choice == 5) break;</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for (InventoryItem item : items)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if (item == null) continue;</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if (item.getQuantity() &lt;= item.getReorderLevel())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System.out.println(item);</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while (true);</a:t>
            </a:r>
            <a:endParaRPr lang="en-US" sz="1500" dirty="0"/>
          </a:p>
        </p:txBody>
      </p:sp>
      <p:sp>
        <p:nvSpPr>
          <p:cNvPr id="18" name="Text 16"/>
          <p:cNvSpPr/>
          <p:nvPr/>
        </p:nvSpPr>
        <p:spPr>
          <a:xfrm>
            <a:off x="6934027" y="5383149"/>
            <a:ext cx="5257668" cy="184348"/>
          </a:xfrm>
          <a:prstGeom prst="rect">
            <a:avLst/>
          </a:prstGeom>
          <a:noFill/>
          <a:ln/>
        </p:spPr>
        <p:txBody>
          <a:bodyPr wrap="none" lIns="0" tIns="0" rIns="0" bIns="0" rtlCol="0" anchor="t"/>
          <a:lstStyle/>
          <a:p>
            <a:pPr algn="l" indent="0" marL="0">
              <a:lnSpc>
                <a:spcPct val="110000"/>
              </a:lnSpc>
              <a:buNone/>
            </a:pPr>
            <a:r>
              <a:rPr lang="en-US" sz="1100" spc="11" kern="100" dirty="0">
                <a:solidFill>
                  <a:srgbClr val="D5D5D5"/>
                </a:solidFill>
                <a:latin typeface="Exo" pitchFamily="34" charset="0"/>
                <a:ea typeface="Exo" pitchFamily="34" charset="-122"/>
                <a:cs typeface="Exo" pitchFamily="34" charset="-120"/>
              </a:rPr>
              <a:t>The loop structure keeps interaction and searching separate.</a:t>
            </a:r>
            <a:endParaRPr lang="en-US" sz="1100" dirty="0"/>
          </a:p>
        </p:txBody>
      </p:sp>
      <p:sp>
        <p:nvSpPr>
          <p:cNvPr id="19" name="Text 17"/>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2009"/>
            <a:ext cx="5333867" cy="180777"/>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MODULE 3 · REUSABLE WORK</a:t>
            </a:r>
            <a:endParaRPr lang="en-US" sz="1100" dirty="0"/>
          </a:p>
        </p:txBody>
      </p:sp>
      <p:sp>
        <p:nvSpPr>
          <p:cNvPr id="3" name="Text 1"/>
          <p:cNvSpPr/>
          <p:nvPr/>
        </p:nvSpPr>
        <p:spPr>
          <a:xfrm>
            <a:off x="609585" y="903041"/>
            <a:ext cx="4724282" cy="1421011"/>
          </a:xfrm>
          <a:prstGeom prst="rect">
            <a:avLst/>
          </a:prstGeom>
          <a:noFill/>
          <a:ln/>
        </p:spPr>
        <p:txBody>
          <a:bodyPr wrap="square" lIns="0" tIns="0" rIns="0" bIns="0" rtlCol="0" anchor="t">
            <a:normAutofit/>
          </a:bodyPr>
          <a:lstStyle/>
          <a:p>
            <a:pPr algn="l" indent="0" marL="0">
              <a:lnSpc>
                <a:spcPct val="89000"/>
              </a:lnSpc>
              <a:buNone/>
            </a:pPr>
            <a:r>
              <a:rPr lang="en-US" sz="3500" spc="-42" kern="100" dirty="0">
                <a:solidFill>
                  <a:srgbClr val="ECECEC"/>
                </a:solidFill>
                <a:latin typeface="Exo SemiBold" pitchFamily="34" charset="0"/>
                <a:ea typeface="Exo SemiBold" pitchFamily="34" charset="-122"/>
                <a:cs typeface="Exo SemiBold" pitchFamily="34" charset="-120"/>
              </a:rPr>
              <a:t>Module 3 packages repeated work into reusable methods</a:t>
            </a:r>
            <a:endParaRPr lang="en-US" sz="3500" dirty="0"/>
          </a:p>
        </p:txBody>
      </p:sp>
      <p:sp>
        <p:nvSpPr>
          <p:cNvPr id="4" name="Shape 2"/>
          <p:cNvSpPr/>
          <p:nvPr/>
        </p:nvSpPr>
        <p:spPr>
          <a:xfrm>
            <a:off x="609585" y="2532658"/>
            <a:ext cx="1181070" cy="19050"/>
          </a:xfrm>
          <a:prstGeom prst="roundRect">
            <a:avLst>
              <a:gd name="adj" fmla="val 49999"/>
            </a:avLst>
          </a:prstGeom>
          <a:solidFill>
            <a:srgbClr val="9BE1FF"/>
          </a:solidFill>
          <a:ln/>
        </p:spPr>
      </p:sp>
      <p:sp>
        <p:nvSpPr>
          <p:cNvPr id="5" name="Text 3"/>
          <p:cNvSpPr/>
          <p:nvPr/>
        </p:nvSpPr>
        <p:spPr>
          <a:xfrm>
            <a:off x="609585" y="2775446"/>
            <a:ext cx="4724282" cy="537567"/>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Methods give every inventory action one clear responsibility and make the program easier to test.</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3489325"/>
          <a:ext cx="4724282" cy="914400"/>
        </p:xfrm>
        <a:graphic>
          <a:graphicData uri="http://schemas.openxmlformats.org/drawingml/2006/table">
            <a:tbl>
              <a:tblPr/>
              <a:tblGrid>
                <a:gridCol w="2469394"/>
                <a:gridCol w="2254888"/>
              </a:tblGrid>
              <a:tr h="426729">
                <a:tc>
                  <a:txBody>
                    <a:bodyPr/>
                    <a:lstStyle/>
                    <a:p>
                      <a:pPr algn="l" indent="0" marL="0">
                        <a:buNone/>
                      </a:pPr>
                      <a:r>
                        <a:rPr lang="en-US" sz="1500" dirty="0">
                          <a:solidFill>
                            <a:srgbClr val="ECECEC"/>
                          </a:solidFill>
                          <a:latin typeface="Exo" pitchFamily="34" charset="0"/>
                          <a:ea typeface="Exo" pitchFamily="34" charset="-122"/>
                          <a:cs typeface="Exo" pitchFamily="34" charset="-120"/>
                        </a:rPr>
                        <a:t>Method</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ECECEC"/>
                          </a:solidFill>
                          <a:latin typeface="Exo" pitchFamily="34" charset="0"/>
                          <a:ea typeface="Exo" pitchFamily="34" charset="-122"/>
                          <a:cs typeface="Exo" pitchFamily="34" charset="-120"/>
                        </a:rPr>
                        <a:t>Responsibility</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695506">
                <a:tc>
                  <a:txBody>
                    <a:bodyPr/>
                    <a:lstStyle/>
                    <a:p>
                      <a:pPr algn="l" indent="0" marL="0">
                        <a:buNone/>
                      </a:pPr>
                      <a:r>
                        <a:rPr lang="en-US" sz="1500" dirty="0">
                          <a:solidFill>
                            <a:srgbClr val="D5D5D5"/>
                          </a:solidFill>
                          <a:latin typeface="Exo" pitchFamily="34" charset="0"/>
                          <a:ea typeface="Exo" pitchFamily="34" charset="-122"/>
                          <a:cs typeface="Exo" pitchFamily="34" charset="-120"/>
                        </a:rPr>
                        <a:t>addStock()</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Accept an item ID and quantity; update stock.</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695506">
                <a:tc>
                  <a:txBody>
                    <a:bodyPr/>
                    <a:lstStyle/>
                    <a:p>
                      <a:pPr algn="l" indent="0" marL="0">
                        <a:buNone/>
                      </a:pPr>
                      <a:r>
                        <a:rPr lang="en-US" sz="1500" dirty="0">
                          <a:solidFill>
                            <a:srgbClr val="D5D5D5"/>
                          </a:solidFill>
                          <a:latin typeface="Exo" pitchFamily="34" charset="0"/>
                          <a:ea typeface="Exo" pitchFamily="34" charset="-122"/>
                          <a:cs typeface="Exo" pitchFamily="34" charset="-120"/>
                        </a:rPr>
                        <a:t>removeStock()</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Validate availability before reducing stock.</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695506">
                <a:tc>
                  <a:txBody>
                    <a:bodyPr/>
                    <a:lstStyle/>
                    <a:p>
                      <a:pPr algn="l" indent="0" marL="0">
                        <a:buNone/>
                      </a:pPr>
                      <a:r>
                        <a:rPr lang="en-US" sz="1500" dirty="0">
                          <a:solidFill>
                            <a:srgbClr val="D5D5D5"/>
                          </a:solidFill>
                          <a:latin typeface="Exo" pitchFamily="34" charset="0"/>
                          <a:ea typeface="Exo" pitchFamily="34" charset="-122"/>
                          <a:cs typeface="Exo" pitchFamily="34" charset="-120"/>
                        </a:rPr>
                        <a:t>displayInventory()</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Traverse and show stored records.</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689156">
                <a:tc>
                  <a:txBody>
                    <a:bodyPr/>
                    <a:lstStyle/>
                    <a:p>
                      <a:pPr algn="l" indent="0" marL="0">
                        <a:buNone/>
                      </a:pPr>
                      <a:r>
                        <a:rPr lang="en-US" sz="1500" dirty="0">
                          <a:solidFill>
                            <a:srgbClr val="D5D5D5"/>
                          </a:solidFill>
                          <a:latin typeface="Exo" pitchFamily="34" charset="0"/>
                          <a:ea typeface="Exo" pitchFamily="34" charset="-122"/>
                          <a:cs typeface="Exo" pitchFamily="34" charset="-120"/>
                        </a:rPr>
                        <a:t>generateReorderReport()</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Find quantities at or below the threshold.</a:t>
                      </a:r>
                      <a:endParaRPr lang="en-US" sz="1500" dirty="0">
                        <a:latin typeface="Exo" charset="0"/>
                        <a:ea typeface="Exo" charset="0"/>
                        <a:cs typeface="Exo" charset="0"/>
                      </a:endParaRPr>
                    </a:p>
                  </a:txBody>
                  <a:tcPr marL="142286" marR="142286" marT="75886" marB="75886"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r>
            </a:tbl>
          </a:graphicData>
        </a:graphic>
      </p:graphicFrame>
      <p:sp>
        <p:nvSpPr>
          <p:cNvPr id="7" name="Shape 4"/>
          <p:cNvSpPr/>
          <p:nvPr/>
        </p:nvSpPr>
        <p:spPr>
          <a:xfrm>
            <a:off x="6248244" y="0"/>
            <a:ext cx="5943451" cy="6858000"/>
          </a:xfrm>
          <a:prstGeom prst="rect">
            <a:avLst/>
          </a:prstGeom>
          <a:solidFill>
            <a:srgbClr val="0E1F40"/>
          </a:solidFill>
          <a:ln/>
        </p:spPr>
      </p:sp>
      <p:sp>
        <p:nvSpPr>
          <p:cNvPr id="8" name="Shape 5"/>
          <p:cNvSpPr/>
          <p:nvPr/>
        </p:nvSpPr>
        <p:spPr>
          <a:xfrm>
            <a:off x="6857828" y="609600"/>
            <a:ext cx="3477530" cy="303411"/>
          </a:xfrm>
          <a:prstGeom prst="roundRect">
            <a:avLst>
              <a:gd name="adj" fmla="val 3767"/>
            </a:avLst>
          </a:prstGeom>
          <a:noFill/>
          <a:ln w="6350">
            <a:solidFill>
              <a:srgbClr val="D5D5D5"/>
            </a:solidFill>
            <a:prstDash val="solid"/>
          </a:ln>
        </p:spPr>
      </p:sp>
      <p:sp>
        <p:nvSpPr>
          <p:cNvPr id="9" name="Text 6"/>
          <p:cNvSpPr/>
          <p:nvPr/>
        </p:nvSpPr>
        <p:spPr>
          <a:xfrm>
            <a:off x="6971629" y="685698"/>
            <a:ext cx="3859513" cy="189706"/>
          </a:xfrm>
          <a:prstGeom prst="rect">
            <a:avLst/>
          </a:prstGeom>
          <a:noFill/>
          <a:ln/>
        </p:spPr>
        <p:txBody>
          <a:bodyPr wrap="none" lIns="0" tIns="0" rIns="0" bIns="0" rtlCol="0" anchor="t"/>
          <a:lstStyle/>
          <a:p>
            <a:pPr algn="l" indent="0" marL="0">
              <a:lnSpc>
                <a:spcPct val="104000"/>
              </a:lnSpc>
              <a:buNone/>
            </a:pPr>
            <a:r>
              <a:rPr lang="en-US" sz="1200" spc="191" kern="100" dirty="0">
                <a:solidFill>
                  <a:srgbClr val="D5D5D5"/>
                </a:solidFill>
                <a:latin typeface="Michroma" pitchFamily="34" charset="0"/>
                <a:ea typeface="Michroma" pitchFamily="34" charset="-122"/>
                <a:cs typeface="Michroma" pitchFamily="34" charset="-120"/>
              </a:rPr>
              <a:t>ARRAY + LINEAR SEARCH</a:t>
            </a:r>
            <a:endParaRPr lang="en-US" sz="1200" dirty="0"/>
          </a:p>
        </p:txBody>
      </p:sp>
      <p:sp>
        <p:nvSpPr>
          <p:cNvPr id="10" name="Shape 7"/>
          <p:cNvSpPr/>
          <p:nvPr/>
        </p:nvSpPr>
        <p:spPr>
          <a:xfrm>
            <a:off x="6857828" y="1126430"/>
            <a:ext cx="4724282" cy="3111004"/>
          </a:xfrm>
          <a:prstGeom prst="roundRect">
            <a:avLst>
              <a:gd name="adj" fmla="val 367"/>
            </a:avLst>
          </a:prstGeom>
          <a:solidFill>
            <a:srgbClr val="0E1F40"/>
          </a:solidFill>
          <a:ln/>
        </p:spPr>
      </p:sp>
      <p:sp>
        <p:nvSpPr>
          <p:cNvPr id="11" name="Text 8"/>
          <p:cNvSpPr/>
          <p:nvPr/>
        </p:nvSpPr>
        <p:spPr>
          <a:xfrm>
            <a:off x="7085431" y="1316137"/>
            <a:ext cx="4269078" cy="2731591"/>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static int findItem(InventoryItem[] items, String id)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for (int i = 0; i &lt; items.length; i++)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if (items[i] != null &amp;&amp; items[i].getItemId().equals(id))</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return i;</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return -1;</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a:t>
            </a:r>
            <a:endParaRPr lang="en-US" sz="1500" dirty="0"/>
          </a:p>
        </p:txBody>
      </p:sp>
      <p:sp>
        <p:nvSpPr>
          <p:cNvPr id="12" name="Text 9"/>
          <p:cNvSpPr/>
          <p:nvPr/>
        </p:nvSpPr>
        <p:spPr>
          <a:xfrm>
            <a:off x="6857828" y="4452567"/>
            <a:ext cx="4724282" cy="734219"/>
          </a:xfrm>
          <a:prstGeom prst="rect">
            <a:avLst/>
          </a:prstGeom>
          <a:noFill/>
          <a:ln/>
        </p:spPr>
        <p:txBody>
          <a:bodyPr wrap="square" lIns="0" tIns="0" rIns="0" bIns="0" rtlCol="0" anchor="t">
            <a:normAutofit/>
          </a:bodyPr>
          <a:lstStyle/>
          <a:p>
            <a:pPr algn="l" indent="0" marL="0">
              <a:lnSpc>
                <a:spcPct val="110000"/>
              </a:lnSpc>
              <a:buNone/>
            </a:pPr>
            <a:r>
              <a:rPr lang="en-US" sz="1100" spc="11" kern="100" dirty="0">
                <a:solidFill>
                  <a:srgbClr val="D5D5D5"/>
                </a:solidFill>
                <a:latin typeface="Exo" pitchFamily="34" charset="0"/>
                <a:ea typeface="Exo" pitchFamily="34" charset="-122"/>
                <a:cs typeface="Exo" pitchFamily="34" charset="-120"/>
              </a:rPr>
              <a:t>Arrays store inventory; traversal checks each record, and linear search compares item IDs. Parameters carry inputs; return values communicate results. Overloaded methods can share a name with different parameter lists.</a:t>
            </a:r>
            <a:endParaRPr lang="en-US" sz="1100" dirty="0"/>
          </a:p>
        </p:txBody>
      </p:sp>
      <p:sp>
        <p:nvSpPr>
          <p:cNvPr id="13" name="Text 10"/>
          <p:cNvSpPr/>
          <p:nvPr/>
        </p:nvSpPr>
        <p:spPr>
          <a:xfrm>
            <a:off x="11820428" y="6458942"/>
            <a:ext cx="371267" cy="188416"/>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MODULE 4 · OBJECT-ORIENTED MODEL</a:t>
            </a:r>
            <a:endParaRPr lang="en-US" sz="1100" dirty="0"/>
          </a:p>
        </p:txBody>
      </p:sp>
      <p:sp>
        <p:nvSpPr>
          <p:cNvPr id="3" name="Text 1"/>
          <p:cNvSpPr/>
          <p:nvPr/>
        </p:nvSpPr>
        <p:spPr>
          <a:xfrm>
            <a:off x="609585" y="911566"/>
            <a:ext cx="10972526" cy="597892"/>
          </a:xfrm>
          <a:prstGeom prst="rect">
            <a:avLst/>
          </a:prstGeom>
          <a:noFill/>
          <a:ln/>
        </p:spPr>
        <p:txBody>
          <a:bodyPr wrap="none" lIns="0" tIns="0" rIns="0" bIns="0" rtlCol="0" anchor="t"/>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Module 4 models inventory with objects</a:t>
            </a:r>
            <a:endParaRPr lang="en-US" sz="4400" dirty="0"/>
          </a:p>
        </p:txBody>
      </p:sp>
      <p:sp>
        <p:nvSpPr>
          <p:cNvPr id="4" name="Shape 2"/>
          <p:cNvSpPr/>
          <p:nvPr/>
        </p:nvSpPr>
        <p:spPr>
          <a:xfrm>
            <a:off x="609585" y="1711325"/>
            <a:ext cx="2743131" cy="31651"/>
          </a:xfrm>
          <a:prstGeom prst="roundRect">
            <a:avLst>
              <a:gd name="adj" fmla="val 49998"/>
            </a:avLst>
          </a:prstGeom>
          <a:solidFill>
            <a:srgbClr val="9BE1FF"/>
          </a:solidFill>
          <a:ln/>
        </p:spPr>
      </p:sp>
      <p:sp>
        <p:nvSpPr>
          <p:cNvPr id="5" name="Shape 3"/>
          <p:cNvSpPr/>
          <p:nvPr/>
        </p:nvSpPr>
        <p:spPr>
          <a:xfrm>
            <a:off x="609585" y="1966913"/>
            <a:ext cx="3555911" cy="4924425"/>
          </a:xfrm>
          <a:prstGeom prst="rect">
            <a:avLst/>
          </a:prstGeom>
          <a:solidFill>
            <a:srgbClr val="0E1F40"/>
          </a:solidFill>
          <a:ln/>
        </p:spPr>
      </p:sp>
      <p:sp>
        <p:nvSpPr>
          <p:cNvPr id="6" name="Shape 4"/>
          <p:cNvSpPr/>
          <p:nvPr/>
        </p:nvSpPr>
        <p:spPr>
          <a:xfrm>
            <a:off x="838179" y="2195513"/>
            <a:ext cx="1658698" cy="304800"/>
          </a:xfrm>
          <a:prstGeom prst="roundRect">
            <a:avLst>
              <a:gd name="adj" fmla="val 3750"/>
            </a:avLst>
          </a:prstGeom>
          <a:solidFill>
            <a:srgbClr val="00364D"/>
          </a:solidFill>
          <a:ln/>
        </p:spPr>
      </p:sp>
      <p:sp>
        <p:nvSpPr>
          <p:cNvPr id="7" name="Text 5"/>
          <p:cNvSpPr/>
          <p:nvPr/>
        </p:nvSpPr>
        <p:spPr>
          <a:xfrm>
            <a:off x="952476" y="2276475"/>
            <a:ext cx="2039688" cy="190500"/>
          </a:xfrm>
          <a:prstGeom prst="rect">
            <a:avLst/>
          </a:prstGeom>
          <a:noFill/>
          <a:ln/>
        </p:spPr>
        <p:txBody>
          <a:bodyPr wrap="none" lIns="0" tIns="0" rIns="0" bIns="0" rtlCol="0" anchor="t"/>
          <a:lstStyle/>
          <a:p>
            <a:pPr algn="l" indent="0" marL="0">
              <a:lnSpc>
                <a:spcPct val="104000"/>
              </a:lnSpc>
              <a:buNone/>
            </a:pPr>
            <a:r>
              <a:rPr lang="en-US" sz="1200" spc="192" kern="100" dirty="0">
                <a:solidFill>
                  <a:srgbClr val="D5D5D5"/>
                </a:solidFill>
                <a:latin typeface="Michroma" pitchFamily="34" charset="0"/>
                <a:ea typeface="Michroma" pitchFamily="34" charset="-122"/>
                <a:cs typeface="Michroma" pitchFamily="34" charset="-120"/>
              </a:rPr>
              <a:t>CONCEPTS</a:t>
            </a:r>
            <a:endParaRPr lang="en-US" sz="1200" dirty="0"/>
          </a:p>
        </p:txBody>
      </p:sp>
      <p:sp>
        <p:nvSpPr>
          <p:cNvPr id="8" name="Text 6"/>
          <p:cNvSpPr/>
          <p:nvPr/>
        </p:nvSpPr>
        <p:spPr>
          <a:xfrm>
            <a:off x="838179" y="2614613"/>
            <a:ext cx="3098722" cy="2163763"/>
          </a:xfrm>
          <a:prstGeom prst="rect">
            <a:avLst/>
          </a:prstGeom>
          <a:noFill/>
          <a:ln/>
        </p:spPr>
        <p:txBody>
          <a:bodyPr wrap="square" lIns="0" tIns="0" rIns="0" bIns="0" rtlCol="0" anchor="t">
            <a:normAutofit/>
          </a:bodyPr>
          <a:lstStyle/>
          <a:p>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Classes</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create objects; fields hold state and methods behavior. A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constructor</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sets starting values.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Encapsulation</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protects private fields with getters and setters.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Static members</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and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toString()</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basic inheritance/interfaces, and </a:t>
            </a:r>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try–catch</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extend the model.</a:t>
            </a:r>
            <a:endParaRPr lang="en-US" sz="1500" dirty="0"/>
          </a:p>
        </p:txBody>
      </p:sp>
      <p:sp>
        <p:nvSpPr>
          <p:cNvPr id="9" name="Shape 7"/>
          <p:cNvSpPr/>
          <p:nvPr/>
        </p:nvSpPr>
        <p:spPr>
          <a:xfrm>
            <a:off x="4470288" y="2409825"/>
            <a:ext cx="7111822" cy="4038600"/>
          </a:xfrm>
          <a:prstGeom prst="roundRect">
            <a:avLst>
              <a:gd name="adj" fmla="val 283"/>
            </a:avLst>
          </a:prstGeom>
          <a:solidFill>
            <a:srgbClr val="0E1F40"/>
          </a:solidFill>
          <a:ln/>
        </p:spPr>
      </p:sp>
      <p:sp>
        <p:nvSpPr>
          <p:cNvPr id="10" name="Text 8"/>
          <p:cNvSpPr/>
          <p:nvPr/>
        </p:nvSpPr>
        <p:spPr>
          <a:xfrm>
            <a:off x="4698882" y="2600325"/>
            <a:ext cx="6654634" cy="3657600"/>
          </a:xfrm>
          <a:prstGeom prst="rect">
            <a:avLst/>
          </a:prstGeom>
          <a:noFill/>
          <a:ln/>
        </p:spPr>
        <p:txBody>
          <a:bodyPr wrap="square" lIns="0" tIns="0" rIns="0" bIns="0" rtlCol="0" anchor="t">
            <a:normAutofit/>
          </a:bodyPr>
          <a:lstStyle/>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class InventoryItem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private String itemId, itemName;</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private int quantity;</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InventoryItem(String id, String name, int qty)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itemId = id; itemName = name; quantity = qty;</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public int getQuantity() { return quantity;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public void setQuantity(int q) { quantity = q;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public String toString()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return itemId + " | " + itemName;</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  }</a:t>
            </a:r>
            <a:endParaRPr lang="en-US" sz="1500" dirty="0"/>
          </a:p>
          <a:p>
            <a:pPr algn="l" indent="0" marL="0">
              <a:lnSpc>
                <a:spcPct val="133000"/>
              </a:lnSpc>
              <a:buNone/>
            </a:pPr>
            <a:r>
              <a:rPr lang="en-US" sz="1500" dirty="0">
                <a:solidFill>
                  <a:srgbClr val="FF7B72"/>
                </a:solidFill>
                <a:latin typeface="Consolas" pitchFamily="34" charset="0"/>
                <a:ea typeface="Consolas" pitchFamily="34" charset="-122"/>
                <a:cs typeface="Consolas" pitchFamily="34" charset="-120"/>
              </a:rPr>
              <a:t>}</a:t>
            </a:r>
            <a:endParaRPr lang="en-US" sz="1500" dirty="0"/>
          </a:p>
        </p:txBody>
      </p:sp>
      <p:sp>
        <p:nvSpPr>
          <p:cNvPr id="11" name="Text 9"/>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INTEGRATION · PART 1 COMPLETE</a:t>
            </a:r>
            <a:endParaRPr lang="en-US" sz="1100" dirty="0"/>
          </a:p>
        </p:txBody>
      </p:sp>
      <p:sp>
        <p:nvSpPr>
          <p:cNvPr id="3" name="Text 1"/>
          <p:cNvSpPr/>
          <p:nvPr/>
        </p:nvSpPr>
        <p:spPr>
          <a:xfrm>
            <a:off x="609585" y="906105"/>
            <a:ext cx="10972526" cy="1087041"/>
          </a:xfrm>
          <a:prstGeom prst="rect">
            <a:avLst/>
          </a:prstGeom>
          <a:noFill/>
          <a:ln/>
        </p:spPr>
        <p:txBody>
          <a:bodyPr wrap="square" lIns="0" tIns="0" rIns="0" bIns="0" rtlCol="0" anchor="t">
            <a:normAutofit/>
          </a:bodyPr>
          <a:lstStyle/>
          <a:p>
            <a:pPr algn="l" indent="0" marL="0">
              <a:lnSpc>
                <a:spcPct val="89000"/>
              </a:lnSpc>
              <a:buNone/>
            </a:pPr>
            <a:r>
              <a:rPr lang="en-US" sz="4000" spc="-48" kern="100" dirty="0">
                <a:solidFill>
                  <a:srgbClr val="ECECEC"/>
                </a:solidFill>
                <a:latin typeface="Exo SemiBold" pitchFamily="34" charset="0"/>
                <a:ea typeface="Exo SemiBold" pitchFamily="34" charset="-122"/>
                <a:cs typeface="Exo SemiBold" pitchFamily="34" charset="-120"/>
              </a:rPr>
              <a:t>Modules 1–4 connect into one working architecture</a:t>
            </a:r>
            <a:endParaRPr lang="en-US" sz="4000" dirty="0"/>
          </a:p>
        </p:txBody>
      </p:sp>
      <p:sp>
        <p:nvSpPr>
          <p:cNvPr id="4" name="Shape 2"/>
          <p:cNvSpPr/>
          <p:nvPr/>
        </p:nvSpPr>
        <p:spPr>
          <a:xfrm>
            <a:off x="609585" y="2200473"/>
            <a:ext cx="2743131" cy="31651"/>
          </a:xfrm>
          <a:prstGeom prst="roundRect">
            <a:avLst>
              <a:gd name="adj" fmla="val 49998"/>
            </a:avLst>
          </a:prstGeom>
          <a:solidFill>
            <a:srgbClr val="9BE1FF"/>
          </a:solidFill>
          <a:ln/>
        </p:spPr>
      </p:sp>
      <p:sp>
        <p:nvSpPr>
          <p:cNvPr id="5" name="Text 3"/>
          <p:cNvSpPr/>
          <p:nvPr/>
        </p:nvSpPr>
        <p:spPr>
          <a:xfrm>
            <a:off x="609585" y="2456061"/>
            <a:ext cx="11582110"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Each module adds one layer: from basic input to a protected, searchable inventory model.</a:t>
            </a:r>
            <a:endParaRPr lang="en-US" sz="1500" dirty="0"/>
          </a:p>
        </p:txBody>
      </p:sp>
      <p:pic>
        <p:nvPicPr>
          <p:cNvPr id="6" name="Image 0" descr="preencoded.png">    </p:cNvPr>
          <p:cNvPicPr>
            <a:picLocks noChangeAspect="1"/>
          </p:cNvPicPr>
          <p:nvPr/>
        </p:nvPicPr>
        <p:blipFill>
          <a:blip r:embed="rId1"/>
          <a:stretch>
            <a:fillRect/>
          </a:stretch>
        </p:blipFill>
        <p:spPr>
          <a:xfrm>
            <a:off x="609585" y="2904331"/>
            <a:ext cx="476238" cy="476250"/>
          </a:xfrm>
          <a:prstGeom prst="rect">
            <a:avLst/>
          </a:prstGeom>
        </p:spPr>
      </p:pic>
      <p:sp>
        <p:nvSpPr>
          <p:cNvPr id="7" name="Text 4"/>
          <p:cNvSpPr/>
          <p:nvPr/>
        </p:nvSpPr>
        <p:spPr>
          <a:xfrm>
            <a:off x="609585" y="3559715"/>
            <a:ext cx="2628834"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Module 1 · Input &amp; Processing</a:t>
            </a:r>
            <a:endParaRPr lang="en-US" sz="1900" dirty="0"/>
          </a:p>
        </p:txBody>
      </p:sp>
      <p:sp>
        <p:nvSpPr>
          <p:cNvPr id="8" name="Text 5"/>
          <p:cNvSpPr/>
          <p:nvPr/>
        </p:nvSpPr>
        <p:spPr>
          <a:xfrm>
            <a:off x="609585" y="4338241"/>
            <a:ext cx="262883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Input and processing foundation.</a:t>
            </a:r>
            <a:endParaRPr lang="en-US" sz="1500" dirty="0"/>
          </a:p>
        </p:txBody>
      </p:sp>
      <p:pic>
        <p:nvPicPr>
          <p:cNvPr id="9" name="Image 1" descr="preencoded.png">    </p:cNvPr>
          <p:cNvPicPr>
            <a:picLocks noChangeAspect="1"/>
          </p:cNvPicPr>
          <p:nvPr/>
        </p:nvPicPr>
        <p:blipFill>
          <a:blip r:embed="rId2"/>
          <a:stretch>
            <a:fillRect/>
          </a:stretch>
        </p:blipFill>
        <p:spPr>
          <a:xfrm>
            <a:off x="3390815" y="2904331"/>
            <a:ext cx="476238" cy="476250"/>
          </a:xfrm>
          <a:prstGeom prst="rect">
            <a:avLst/>
          </a:prstGeom>
        </p:spPr>
      </p:pic>
      <p:sp>
        <p:nvSpPr>
          <p:cNvPr id="10" name="Text 6"/>
          <p:cNvSpPr/>
          <p:nvPr/>
        </p:nvSpPr>
        <p:spPr>
          <a:xfrm>
            <a:off x="3390815" y="3559715"/>
            <a:ext cx="2628834"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Module 2 · Menu &amp; Decisions</a:t>
            </a:r>
            <a:endParaRPr lang="en-US" sz="1900" dirty="0"/>
          </a:p>
        </p:txBody>
      </p:sp>
      <p:sp>
        <p:nvSpPr>
          <p:cNvPr id="11" name="Text 7"/>
          <p:cNvSpPr/>
          <p:nvPr/>
        </p:nvSpPr>
        <p:spPr>
          <a:xfrm>
            <a:off x="3390815" y="4338241"/>
            <a:ext cx="262883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Thresholds, loops, and menus.</a:t>
            </a:r>
            <a:endParaRPr lang="en-US" sz="1500" dirty="0"/>
          </a:p>
        </p:txBody>
      </p:sp>
      <p:pic>
        <p:nvPicPr>
          <p:cNvPr id="12" name="Image 2" descr="preencoded.png">    </p:cNvPr>
          <p:cNvPicPr>
            <a:picLocks noChangeAspect="1"/>
          </p:cNvPicPr>
          <p:nvPr/>
        </p:nvPicPr>
        <p:blipFill>
          <a:blip r:embed="rId3"/>
          <a:stretch>
            <a:fillRect/>
          </a:stretch>
        </p:blipFill>
        <p:spPr>
          <a:xfrm>
            <a:off x="6172046" y="2904331"/>
            <a:ext cx="476238" cy="476250"/>
          </a:xfrm>
          <a:prstGeom prst="rect">
            <a:avLst/>
          </a:prstGeom>
        </p:spPr>
      </p:pic>
      <p:sp>
        <p:nvSpPr>
          <p:cNvPr id="13" name="Text 8"/>
          <p:cNvSpPr/>
          <p:nvPr/>
        </p:nvSpPr>
        <p:spPr>
          <a:xfrm>
            <a:off x="6172046" y="3559715"/>
            <a:ext cx="2628834"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Module 3 · Methods &amp; Arrays</a:t>
            </a:r>
            <a:endParaRPr lang="en-US" sz="1900" dirty="0"/>
          </a:p>
        </p:txBody>
      </p:sp>
      <p:sp>
        <p:nvSpPr>
          <p:cNvPr id="14" name="Text 9"/>
          <p:cNvSpPr/>
          <p:nvPr/>
        </p:nvSpPr>
        <p:spPr>
          <a:xfrm>
            <a:off x="6172046" y="4338241"/>
            <a:ext cx="2628834"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Traversal and searching.</a:t>
            </a:r>
            <a:endParaRPr lang="en-US" sz="1500" dirty="0"/>
          </a:p>
        </p:txBody>
      </p:sp>
      <p:pic>
        <p:nvPicPr>
          <p:cNvPr id="15" name="Image 3" descr="preencoded.png">    </p:cNvPr>
          <p:cNvPicPr>
            <a:picLocks noChangeAspect="1"/>
          </p:cNvPicPr>
          <p:nvPr/>
        </p:nvPicPr>
        <p:blipFill>
          <a:blip r:embed="rId4"/>
          <a:stretch>
            <a:fillRect/>
          </a:stretch>
        </p:blipFill>
        <p:spPr>
          <a:xfrm>
            <a:off x="8953276" y="2904331"/>
            <a:ext cx="476238" cy="476250"/>
          </a:xfrm>
          <a:prstGeom prst="rect">
            <a:avLst/>
          </a:prstGeom>
        </p:spPr>
      </p:pic>
      <p:sp>
        <p:nvSpPr>
          <p:cNvPr id="16" name="Text 10"/>
          <p:cNvSpPr/>
          <p:nvPr/>
        </p:nvSpPr>
        <p:spPr>
          <a:xfrm>
            <a:off x="8953276" y="3559715"/>
            <a:ext cx="2628834" cy="636984"/>
          </a:xfrm>
          <a:prstGeom prst="rect">
            <a:avLst/>
          </a:prstGeom>
          <a:noFill/>
          <a:ln/>
        </p:spPr>
        <p:txBody>
          <a:bodyPr wrap="square" lIns="0" tIns="0" rIns="0" bIns="0" rtlCol="0" anchor="t">
            <a:normAutofit/>
          </a:bodyPr>
          <a:lstStyle/>
          <a:p>
            <a:pPr algn="l" indent="0" marL="0">
              <a:lnSpc>
                <a:spcPct val="110000"/>
              </a:lnSpc>
              <a:buNone/>
            </a:pPr>
            <a:r>
              <a:rPr lang="en-US" sz="1900" dirty="0">
                <a:solidFill>
                  <a:srgbClr val="D5D5D5"/>
                </a:solidFill>
                <a:latin typeface="Exo" pitchFamily="34" charset="0"/>
                <a:ea typeface="Exo" pitchFamily="34" charset="-122"/>
                <a:cs typeface="Exo" pitchFamily="34" charset="-120"/>
              </a:rPr>
              <a:t>Module 4 · Objects &amp; Safety</a:t>
            </a:r>
            <a:endParaRPr lang="en-US" sz="1900" dirty="0"/>
          </a:p>
        </p:txBody>
      </p:sp>
      <p:sp>
        <p:nvSpPr>
          <p:cNvPr id="17" name="Text 11"/>
          <p:cNvSpPr/>
          <p:nvPr/>
        </p:nvSpPr>
        <p:spPr>
          <a:xfrm>
            <a:off x="8953276" y="4338241"/>
            <a:ext cx="2628834"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Encapsulation and exception handling.</a:t>
            </a:r>
            <a:endParaRPr lang="en-US" sz="1500" dirty="0"/>
          </a:p>
        </p:txBody>
      </p:sp>
      <p:sp>
        <p:nvSpPr>
          <p:cNvPr id="18" name="Text 12"/>
          <p:cNvSpPr/>
          <p:nvPr/>
        </p:nvSpPr>
        <p:spPr>
          <a:xfrm>
            <a:off x="609585" y="5059204"/>
            <a:ext cx="533386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INTEGRATION PSEUDOCODE</a:t>
            </a:r>
            <a:endParaRPr lang="en-US" sz="1100" dirty="0"/>
          </a:p>
        </p:txBody>
      </p:sp>
      <p:sp>
        <p:nvSpPr>
          <p:cNvPr id="19" name="Text 13"/>
          <p:cNvSpPr/>
          <p:nvPr/>
        </p:nvSpPr>
        <p:spPr>
          <a:xfrm>
            <a:off x="609585" y="5352852"/>
            <a:ext cx="5333867"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Initialize → read menu → run operation → validate/update stock → check reorder threshold → repeat until Exit.</a:t>
            </a:r>
            <a:endParaRPr lang="en-US" sz="1500" dirty="0"/>
          </a:p>
        </p:txBody>
      </p:sp>
      <p:sp>
        <p:nvSpPr>
          <p:cNvPr id="20" name="Text 14"/>
          <p:cNvSpPr/>
          <p:nvPr/>
        </p:nvSpPr>
        <p:spPr>
          <a:xfrm>
            <a:off x="6248244" y="5059204"/>
            <a:ext cx="5333867"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NEXT · PART 2</a:t>
            </a:r>
            <a:endParaRPr lang="en-US" sz="1100" dirty="0"/>
          </a:p>
        </p:txBody>
      </p:sp>
      <p:sp>
        <p:nvSpPr>
          <p:cNvPr id="21" name="Text 15"/>
          <p:cNvSpPr/>
          <p:nvPr/>
        </p:nvSpPr>
        <p:spPr>
          <a:xfrm>
            <a:off x="6248244" y="5352852"/>
            <a:ext cx="5333867" cy="540941"/>
          </a:xfrm>
          <a:prstGeom prst="rect">
            <a:avLst/>
          </a:prstGeom>
          <a:noFill/>
          <a:ln/>
        </p:spPr>
        <p:txBody>
          <a:bodyPr wrap="square" lIns="0" tIns="0" rIns="0" bIns="0" rtlCol="0" anchor="t">
            <a:normAutofit/>
          </a:bodyPr>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Strings, File I/O, Collections, Lambda Expressions, and Streams.</a:t>
            </a:r>
            <a:endParaRPr lang="en-US" sz="1500" dirty="0"/>
          </a:p>
        </p:txBody>
      </p:sp>
      <p:sp>
        <p:nvSpPr>
          <p:cNvPr id="22" name="Text 16"/>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9585" y="609600"/>
            <a:ext cx="11582110" cy="175022"/>
          </a:xfrm>
          <a:prstGeom prst="rect">
            <a:avLst/>
          </a:prstGeom>
          <a:noFill/>
          <a:ln/>
        </p:spPr>
        <p:txBody>
          <a:bodyPr wrap="none" lIns="0" tIns="0" rIns="0" bIns="0" rtlCol="0" anchor="t"/>
          <a:lstStyle/>
          <a:p>
            <a:pPr algn="l" indent="0" marL="0">
              <a:lnSpc>
                <a:spcPct val="108000"/>
              </a:lnSpc>
              <a:buNone/>
            </a:pPr>
            <a:r>
              <a:rPr lang="en-US" sz="1050" spc="90" kern="100" dirty="0">
                <a:solidFill>
                  <a:srgbClr val="B5B5B5"/>
                </a:solidFill>
                <a:latin typeface="Fira Mono Medium" pitchFamily="34" charset="0"/>
                <a:ea typeface="Fira Mono Medium" pitchFamily="34" charset="-122"/>
                <a:cs typeface="Fira Mono Medium" pitchFamily="34" charset="-120"/>
              </a:rPr>
              <a:t>SLIDE 11 · MODULE 5</a:t>
            </a:r>
            <a:endParaRPr lang="en-US" sz="1050" dirty="0"/>
          </a:p>
        </p:txBody>
      </p:sp>
      <p:sp>
        <p:nvSpPr>
          <p:cNvPr id="3" name="Text 1"/>
          <p:cNvSpPr/>
          <p:nvPr/>
        </p:nvSpPr>
        <p:spPr>
          <a:xfrm>
            <a:off x="609585" y="900011"/>
            <a:ext cx="10972526" cy="1152327"/>
          </a:xfrm>
          <a:prstGeom prst="rect">
            <a:avLst/>
          </a:prstGeom>
          <a:noFill/>
          <a:ln/>
        </p:spPr>
        <p:txBody>
          <a:bodyPr wrap="square" lIns="0" tIns="0" rIns="0" bIns="0" rtlCol="0" anchor="t">
            <a:normAutofit/>
          </a:bodyPr>
          <a:lstStyle/>
          <a:p>
            <a:pPr algn="l" indent="0" marL="0">
              <a:lnSpc>
                <a:spcPct val="89000"/>
              </a:lnSpc>
              <a:buNone/>
            </a:pPr>
            <a:r>
              <a:rPr lang="en-US" sz="4250" spc="-51" kern="100" dirty="0">
                <a:solidFill>
                  <a:srgbClr val="ECECEC"/>
                </a:solidFill>
                <a:latin typeface="Exo SemiBold" pitchFamily="34" charset="0"/>
                <a:ea typeface="Exo SemiBold" pitchFamily="34" charset="-122"/>
                <a:cs typeface="Exo SemiBold" pitchFamily="34" charset="-120"/>
              </a:rPr>
              <a:t>Strings and library algorithms make product search reliable</a:t>
            </a:r>
            <a:endParaRPr lang="en-US" sz="4250" dirty="0"/>
          </a:p>
        </p:txBody>
      </p:sp>
      <p:sp>
        <p:nvSpPr>
          <p:cNvPr id="4" name="Shape 2"/>
          <p:cNvSpPr/>
          <p:nvPr/>
        </p:nvSpPr>
        <p:spPr>
          <a:xfrm>
            <a:off x="609585" y="2239268"/>
            <a:ext cx="2743131" cy="19050"/>
          </a:xfrm>
          <a:prstGeom prst="roundRect">
            <a:avLst>
              <a:gd name="adj" fmla="val 49999"/>
            </a:avLst>
          </a:prstGeom>
          <a:solidFill>
            <a:srgbClr val="9BE1FF"/>
          </a:solidFill>
          <a:ln/>
        </p:spPr>
      </p:sp>
      <p:sp>
        <p:nvSpPr>
          <p:cNvPr id="5" name="Text 3"/>
          <p:cNvSpPr/>
          <p:nvPr/>
        </p:nvSpPr>
        <p:spPr>
          <a:xfrm>
            <a:off x="609585" y="2469257"/>
            <a:ext cx="5333867" cy="1467941"/>
          </a:xfrm>
          <a:prstGeom prst="rect">
            <a:avLst/>
          </a:prstGeom>
          <a:noFill/>
          <a:ln/>
        </p:spPr>
        <p:txBody>
          <a:bodyPr wrap="square" lIns="0" tIns="0" rIns="0" bIns="0" rtlCol="0" anchor="t">
            <a:normAutofit/>
          </a:bodyPr>
          <a:lstStyle/>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String</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objects are immutable; methods return new strings</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length()</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substring(begin, end)</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indexOf()</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contains()</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equals()</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compares content;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compares references</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toLowerCase()</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toUpperCase()</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trim()</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split(",")</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StringBuilder</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edits text efficiently</a:t>
            </a:r>
            <a:endParaRPr lang="en-US" sz="1450" dirty="0"/>
          </a:p>
        </p:txBody>
      </p:sp>
      <p:sp>
        <p:nvSpPr>
          <p:cNvPr id="6" name="Text 4"/>
          <p:cNvSpPr/>
          <p:nvPr/>
        </p:nvSpPr>
        <p:spPr>
          <a:xfrm>
            <a:off x="6248244" y="2469257"/>
            <a:ext cx="5333867" cy="1117798"/>
          </a:xfrm>
          <a:prstGeom prst="rect">
            <a:avLst/>
          </a:prstGeom>
          <a:noFill/>
          <a:ln/>
        </p:spPr>
        <p:txBody>
          <a:bodyPr wrap="square" lIns="0" tIns="0" rIns="0" bIns="0" rtlCol="0" anchor="t">
            <a:normAutofit/>
          </a:bodyPr>
          <a:lstStyle/>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Arrays.sort()</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and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Collections.sort()</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order data</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Arrays.binarySearch()</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requires sorted input</a:t>
            </a:r>
            <a:endParaRPr lang="en-US" sz="1450" dirty="0"/>
          </a:p>
          <a:p>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Comparable</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defines natural order; </a:t>
            </a:r>
            <a:pPr algn="l" marL="294640" indent="-294640">
              <a:lnSpc>
                <a:spcPct val="116000"/>
              </a:lnSpc>
              <a:buSzPct val="100000"/>
              <a:buChar char="•"/>
            </a:pPr>
            <a:r>
              <a:rPr lang="en-US" sz="1450" b="1" dirty="0">
                <a:solidFill>
                  <a:srgbClr val="D5D5D5"/>
                </a:solidFill>
                <a:latin typeface="Exo Bold" pitchFamily="34" charset="0"/>
                <a:ea typeface="Exo Bold" pitchFamily="34" charset="-122"/>
                <a:cs typeface="Exo Bold" pitchFamily="34" charset="-120"/>
              </a:rPr>
              <a:t>Comparator</a:t>
            </a:r>
            <a:pPr algn="l" marL="294640" indent="-294640">
              <a:lnSpc>
                <a:spcPct val="116000"/>
              </a:lnSpc>
              <a:buSzPct val="100000"/>
              <a:buChar char="•"/>
            </a:pPr>
            <a:r>
              <a:rPr lang="en-US" sz="1450" dirty="0">
                <a:solidFill>
                  <a:srgbClr val="D5D5D5"/>
                </a:solidFill>
                <a:latin typeface="Exo" pitchFamily="34" charset="0"/>
                <a:ea typeface="Exo" pitchFamily="34" charset="-122"/>
                <a:cs typeface="Exo" pitchFamily="34" charset="-120"/>
              </a:rPr>
              <a:t> defines custom order</a:t>
            </a:r>
            <a:endParaRPr lang="en-US" sz="1450" dirty="0"/>
          </a:p>
        </p:txBody>
      </p:sp>
      <p:sp>
        <p:nvSpPr>
          <p:cNvPr id="7" name="Shape 5"/>
          <p:cNvSpPr/>
          <p:nvPr/>
        </p:nvSpPr>
        <p:spPr>
          <a:xfrm>
            <a:off x="609585" y="4143673"/>
            <a:ext cx="10972526" cy="2716609"/>
          </a:xfrm>
          <a:prstGeom prst="roundRect">
            <a:avLst>
              <a:gd name="adj" fmla="val 421"/>
            </a:avLst>
          </a:prstGeom>
          <a:solidFill>
            <a:srgbClr val="0E1F40"/>
          </a:solidFill>
          <a:ln/>
        </p:spPr>
      </p:sp>
      <p:sp>
        <p:nvSpPr>
          <p:cNvPr id="8" name="Text 6"/>
          <p:cNvSpPr/>
          <p:nvPr/>
        </p:nvSpPr>
        <p:spPr>
          <a:xfrm>
            <a:off x="829845" y="4327227"/>
            <a:ext cx="10532005" cy="234950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String[] products = {"Keyboard", "Mouse", "USB Cable"};</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String query = "  usb CABLE ";</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for (String p : products) {</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    if (p.toLowerCase().contains(query.trim().toLowerCase())) {</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        System.out.println("Found: " + p);</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E6EDF3"/>
                </a:solidFill>
                <a:latin typeface="Consolas" pitchFamily="34" charset="0"/>
                <a:ea typeface="Consolas" pitchFamily="34" charset="-122"/>
                <a:cs typeface="Consolas" pitchFamily="34" charset="-120"/>
              </a:rPr>
              <a:t>// Output: Found: USB Cable</a:t>
            </a:r>
            <a:endParaRPr lang="en-US" sz="1450" dirty="0"/>
          </a:p>
        </p:txBody>
      </p:sp>
      <p:sp>
        <p:nvSpPr>
          <p:cNvPr id="9" name="Text 7"/>
          <p:cNvSpPr/>
          <p:nvPr/>
        </p:nvSpPr>
        <p:spPr>
          <a:xfrm>
            <a:off x="11826281" y="6462018"/>
            <a:ext cx="365414" cy="182364"/>
          </a:xfrm>
          <a:prstGeom prst="rect">
            <a:avLst/>
          </a:prstGeom>
          <a:noFill/>
          <a:ln/>
        </p:spPr>
        <p:txBody>
          <a:bodyPr wrap="none" lIns="0" tIns="0" rIns="0" bIns="0" rtlCol="0" anchor="ctr"/>
          <a:lstStyle/>
          <a:p>
            <a:pPr algn="l" indent="0" marL="0">
              <a:lnSpc>
                <a:spcPct val="118000"/>
              </a:lnSpc>
              <a:buNone/>
            </a:pPr>
            <a:r>
              <a:rPr lang="en-US" sz="1000" spc="81" kern="100" dirty="0">
                <a:solidFill>
                  <a:srgbClr val="9D9D9D"/>
                </a:solidFill>
                <a:latin typeface="Fira Mono" pitchFamily="34" charset="0"/>
                <a:ea typeface="Fira Mono" pitchFamily="34" charset="-122"/>
                <a:cs typeface="Fira Mon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585" y="611199"/>
            <a:ext cx="11582110" cy="126901"/>
          </a:xfrm>
          <a:prstGeom prst="rect">
            <a:avLst/>
          </a:prstGeom>
          <a:noFill/>
          <a:ln/>
        </p:spPr>
        <p:txBody>
          <a:bodyPr wrap="none" lIns="0" tIns="0" rIns="0" bIns="0" rtlCol="0" anchor="t"/>
          <a:lstStyle/>
          <a:p>
            <a:pPr algn="l" indent="0" marL="0">
              <a:lnSpc>
                <a:spcPct val="108000"/>
              </a:lnSpc>
              <a:buNone/>
            </a:pPr>
            <a:r>
              <a:rPr lang="en-US" sz="750" spc="65" kern="100" dirty="0">
                <a:solidFill>
                  <a:srgbClr val="B5B5B5"/>
                </a:solidFill>
                <a:latin typeface="Fira Mono Medium" pitchFamily="34" charset="0"/>
                <a:ea typeface="Fira Mono Medium" pitchFamily="34" charset="-122"/>
                <a:cs typeface="Fira Mono Medium" pitchFamily="34" charset="-120"/>
              </a:rPr>
              <a:t>SLIDE 12 · MODULE 5</a:t>
            </a:r>
            <a:endParaRPr lang="en-US" sz="750" dirty="0"/>
          </a:p>
        </p:txBody>
      </p:sp>
      <p:sp>
        <p:nvSpPr>
          <p:cNvPr id="3" name="Text 1"/>
          <p:cNvSpPr/>
          <p:nvPr/>
        </p:nvSpPr>
        <p:spPr>
          <a:xfrm>
            <a:off x="609585" y="804053"/>
            <a:ext cx="10972526" cy="417909"/>
          </a:xfrm>
          <a:prstGeom prst="rect">
            <a:avLst/>
          </a:prstGeom>
          <a:noFill/>
          <a:ln/>
        </p:spPr>
        <p:txBody>
          <a:bodyPr wrap="none" lIns="0" tIns="0" rIns="0" bIns="0" rtlCol="0" anchor="t"/>
          <a:lstStyle/>
          <a:p>
            <a:pPr algn="l" indent="0" marL="0">
              <a:lnSpc>
                <a:spcPct val="89000"/>
              </a:lnSpc>
              <a:buNone/>
            </a:pPr>
            <a:r>
              <a:rPr lang="en-US" sz="3100" spc="-37" kern="100" dirty="0">
                <a:solidFill>
                  <a:srgbClr val="ECECEC"/>
                </a:solidFill>
                <a:latin typeface="Exo SemiBold" pitchFamily="34" charset="0"/>
                <a:ea typeface="Exo SemiBold" pitchFamily="34" charset="-122"/>
                <a:cs typeface="Exo SemiBold" pitchFamily="34" charset="-120"/>
              </a:rPr>
              <a:t>File I/O lets inventory survive a restart</a:t>
            </a:r>
            <a:endParaRPr lang="en-US" sz="3100" dirty="0"/>
          </a:p>
        </p:txBody>
      </p:sp>
      <p:sp>
        <p:nvSpPr>
          <p:cNvPr id="4" name="Shape 2"/>
          <p:cNvSpPr/>
          <p:nvPr/>
        </p:nvSpPr>
        <p:spPr>
          <a:xfrm>
            <a:off x="609585" y="1322487"/>
            <a:ext cx="2743131" cy="19050"/>
          </a:xfrm>
          <a:prstGeom prst="roundRect">
            <a:avLst>
              <a:gd name="adj" fmla="val 49999"/>
            </a:avLst>
          </a:prstGeom>
          <a:solidFill>
            <a:srgbClr val="9BE1FF"/>
          </a:solidFill>
          <a:ln/>
        </p:spPr>
      </p:sp>
      <p:sp>
        <p:nvSpPr>
          <p:cNvPr id="5" name="Text 3"/>
          <p:cNvSpPr/>
          <p:nvPr/>
        </p:nvSpPr>
        <p:spPr>
          <a:xfrm>
            <a:off x="609585" y="1463077"/>
            <a:ext cx="2514537" cy="222647"/>
          </a:xfrm>
          <a:prstGeom prst="rect">
            <a:avLst/>
          </a:prstGeom>
          <a:noFill/>
          <a:ln/>
        </p:spPr>
        <p:txBody>
          <a:bodyPr wrap="none" lIns="0" tIns="0" rIns="0" bIns="0" rtlCol="0" anchor="t"/>
          <a:lstStyle/>
          <a:p>
            <a:pPr algn="l" indent="0" marL="0">
              <a:lnSpc>
                <a:spcPct val="110000"/>
              </a:lnSpc>
              <a:buNone/>
            </a:pPr>
            <a:r>
              <a:rPr lang="en-US" sz="1350" dirty="0">
                <a:solidFill>
                  <a:srgbClr val="D5D5D5"/>
                </a:solidFill>
                <a:latin typeface="Exo" pitchFamily="34" charset="0"/>
                <a:ea typeface="Exo" pitchFamily="34" charset="-122"/>
                <a:cs typeface="Exo" pitchFamily="34" charset="-120"/>
              </a:rPr>
              <a:t>Inventory Operations</a:t>
            </a:r>
            <a:endParaRPr lang="en-US" sz="1350" dirty="0"/>
          </a:p>
        </p:txBody>
      </p:sp>
      <p:sp>
        <p:nvSpPr>
          <p:cNvPr id="6" name="Text 4"/>
          <p:cNvSpPr/>
          <p:nvPr/>
        </p:nvSpPr>
        <p:spPr>
          <a:xfrm>
            <a:off x="609585" y="1756690"/>
            <a:ext cx="2514537" cy="321072"/>
          </a:xfrm>
          <a:prstGeom prst="rect">
            <a:avLst/>
          </a:prstGeom>
          <a:noFill/>
          <a:ln/>
        </p:spPr>
        <p:txBody>
          <a:bodyPr wrap="square" lIns="0" tIns="0" rIns="0" bIns="0" rtlCol="0" anchor="t">
            <a:normAutofit/>
          </a:bodyPr>
          <a:lstStyle/>
          <a:p>
            <a:pPr algn="l" indent="0" marL="0">
              <a:lnSpc>
                <a:spcPct val="101000"/>
              </a:lnSpc>
              <a:buNone/>
            </a:pPr>
            <a:r>
              <a:rPr lang="en-US" sz="1050" dirty="0">
                <a:solidFill>
                  <a:srgbClr val="D5D5D5"/>
                </a:solidFill>
                <a:latin typeface="Exo" pitchFamily="34" charset="0"/>
                <a:ea typeface="Exo" pitchFamily="34" charset="-122"/>
                <a:cs typeface="Exo" pitchFamily="34" charset="-120"/>
              </a:rPr>
              <a:t>Add, remove and update items in memory.</a:t>
            </a:r>
            <a:endParaRPr lang="en-US" sz="1050" dirty="0"/>
          </a:p>
        </p:txBody>
      </p:sp>
      <p:sp>
        <p:nvSpPr>
          <p:cNvPr id="7" name="Text 5"/>
          <p:cNvSpPr/>
          <p:nvPr/>
        </p:nvSpPr>
        <p:spPr>
          <a:xfrm>
            <a:off x="3428914" y="1463077"/>
            <a:ext cx="2514537" cy="222647"/>
          </a:xfrm>
          <a:prstGeom prst="rect">
            <a:avLst/>
          </a:prstGeom>
          <a:noFill/>
          <a:ln/>
        </p:spPr>
        <p:txBody>
          <a:bodyPr wrap="none" lIns="0" tIns="0" rIns="0" bIns="0" rtlCol="0" anchor="t"/>
          <a:lstStyle/>
          <a:p>
            <a:pPr algn="l" indent="0" marL="0">
              <a:lnSpc>
                <a:spcPct val="110000"/>
              </a:lnSpc>
              <a:buNone/>
            </a:pPr>
            <a:r>
              <a:rPr lang="en-US" sz="1350" dirty="0">
                <a:solidFill>
                  <a:srgbClr val="D5D5D5"/>
                </a:solidFill>
                <a:latin typeface="Exo" pitchFamily="34" charset="0"/>
                <a:ea typeface="Exo" pitchFamily="34" charset="-122"/>
                <a:cs typeface="Exo" pitchFamily="34" charset="-120"/>
              </a:rPr>
              <a:t>Save to File</a:t>
            </a:r>
            <a:endParaRPr lang="en-US" sz="1350" dirty="0"/>
          </a:p>
        </p:txBody>
      </p:sp>
      <p:sp>
        <p:nvSpPr>
          <p:cNvPr id="8" name="Text 6"/>
          <p:cNvSpPr/>
          <p:nvPr/>
        </p:nvSpPr>
        <p:spPr>
          <a:xfrm>
            <a:off x="3428914" y="1756690"/>
            <a:ext cx="2514537" cy="321072"/>
          </a:xfrm>
          <a:prstGeom prst="rect">
            <a:avLst/>
          </a:prstGeom>
          <a:noFill/>
          <a:ln/>
        </p:spPr>
        <p:txBody>
          <a:bodyPr wrap="square" lIns="0" tIns="0" rIns="0" bIns="0" rtlCol="0" anchor="t">
            <a:normAutofit/>
          </a:bodyPr>
          <a:lstStyle/>
          <a:p>
            <a:pPr algn="l" indent="0" marL="0">
              <a:lnSpc>
                <a:spcPct val="101000"/>
              </a:lnSpc>
              <a:buNone/>
            </a:pPr>
            <a:r>
              <a:rPr lang="en-US" sz="1050" dirty="0">
                <a:solidFill>
                  <a:srgbClr val="D5D5D5"/>
                </a:solidFill>
                <a:latin typeface="Exo" pitchFamily="34" charset="0"/>
                <a:ea typeface="Exo" pitchFamily="34" charset="-122"/>
                <a:cs typeface="Exo" pitchFamily="34" charset="-120"/>
              </a:rPr>
              <a:t>Write each record as one comma-separated line.</a:t>
            </a:r>
            <a:endParaRPr lang="en-US" sz="1050" dirty="0"/>
          </a:p>
        </p:txBody>
      </p:sp>
      <p:sp>
        <p:nvSpPr>
          <p:cNvPr id="9" name="Text 7"/>
          <p:cNvSpPr/>
          <p:nvPr/>
        </p:nvSpPr>
        <p:spPr>
          <a:xfrm>
            <a:off x="6248244" y="1463077"/>
            <a:ext cx="2514537" cy="222647"/>
          </a:xfrm>
          <a:prstGeom prst="rect">
            <a:avLst/>
          </a:prstGeom>
          <a:noFill/>
          <a:ln/>
        </p:spPr>
        <p:txBody>
          <a:bodyPr wrap="none" lIns="0" tIns="0" rIns="0" bIns="0" rtlCol="0" anchor="t"/>
          <a:lstStyle/>
          <a:p>
            <a:pPr algn="l" indent="0" marL="0">
              <a:lnSpc>
                <a:spcPct val="110000"/>
              </a:lnSpc>
              <a:buNone/>
            </a:pPr>
            <a:r>
              <a:rPr lang="en-US" sz="1350" dirty="0">
                <a:solidFill>
                  <a:srgbClr val="D5D5D5"/>
                </a:solidFill>
                <a:latin typeface="Exo" pitchFamily="34" charset="0"/>
                <a:ea typeface="Exo" pitchFamily="34" charset="-122"/>
                <a:cs typeface="Exo" pitchFamily="34" charset="-120"/>
              </a:rPr>
              <a:t>Reopen Application</a:t>
            </a:r>
            <a:endParaRPr lang="en-US" sz="1350" dirty="0"/>
          </a:p>
        </p:txBody>
      </p:sp>
      <p:sp>
        <p:nvSpPr>
          <p:cNvPr id="10" name="Text 8"/>
          <p:cNvSpPr/>
          <p:nvPr/>
        </p:nvSpPr>
        <p:spPr>
          <a:xfrm>
            <a:off x="6248244" y="1756690"/>
            <a:ext cx="2514537" cy="321072"/>
          </a:xfrm>
          <a:prstGeom prst="rect">
            <a:avLst/>
          </a:prstGeom>
          <a:noFill/>
          <a:ln/>
        </p:spPr>
        <p:txBody>
          <a:bodyPr wrap="square" lIns="0" tIns="0" rIns="0" bIns="0" rtlCol="0" anchor="t">
            <a:normAutofit/>
          </a:bodyPr>
          <a:lstStyle/>
          <a:p>
            <a:pPr algn="l" indent="0" marL="0">
              <a:lnSpc>
                <a:spcPct val="101000"/>
              </a:lnSpc>
              <a:buNone/>
            </a:pPr>
            <a:r>
              <a:rPr lang="en-US" sz="1050" dirty="0">
                <a:solidFill>
                  <a:srgbClr val="D5D5D5"/>
                </a:solidFill>
                <a:latin typeface="Exo" pitchFamily="34" charset="0"/>
                <a:ea typeface="Exo" pitchFamily="34" charset="-122"/>
                <a:cs typeface="Exo" pitchFamily="34" charset="-120"/>
              </a:rPr>
              <a:t>Start the program again with no items in memory.</a:t>
            </a:r>
            <a:endParaRPr lang="en-US" sz="1050" dirty="0"/>
          </a:p>
        </p:txBody>
      </p:sp>
      <p:sp>
        <p:nvSpPr>
          <p:cNvPr id="11" name="Text 9"/>
          <p:cNvSpPr/>
          <p:nvPr/>
        </p:nvSpPr>
        <p:spPr>
          <a:xfrm>
            <a:off x="9067573" y="1463077"/>
            <a:ext cx="2514537" cy="222647"/>
          </a:xfrm>
          <a:prstGeom prst="rect">
            <a:avLst/>
          </a:prstGeom>
          <a:noFill/>
          <a:ln/>
        </p:spPr>
        <p:txBody>
          <a:bodyPr wrap="none" lIns="0" tIns="0" rIns="0" bIns="0" rtlCol="0" anchor="t"/>
          <a:lstStyle/>
          <a:p>
            <a:pPr algn="l" indent="0" marL="0">
              <a:lnSpc>
                <a:spcPct val="110000"/>
              </a:lnSpc>
              <a:buNone/>
            </a:pPr>
            <a:r>
              <a:rPr lang="en-US" sz="1350" dirty="0">
                <a:solidFill>
                  <a:srgbClr val="D5D5D5"/>
                </a:solidFill>
                <a:latin typeface="Exo" pitchFamily="34" charset="0"/>
                <a:ea typeface="Exo" pitchFamily="34" charset="-122"/>
                <a:cs typeface="Exo" pitchFamily="34" charset="-120"/>
              </a:rPr>
              <a:t>Load Saved Inventory</a:t>
            </a:r>
            <a:endParaRPr lang="en-US" sz="1350" dirty="0"/>
          </a:p>
        </p:txBody>
      </p:sp>
      <p:sp>
        <p:nvSpPr>
          <p:cNvPr id="12" name="Text 10"/>
          <p:cNvSpPr/>
          <p:nvPr/>
        </p:nvSpPr>
        <p:spPr>
          <a:xfrm>
            <a:off x="9067573" y="1756690"/>
            <a:ext cx="2514537" cy="160536"/>
          </a:xfrm>
          <a:prstGeom prst="rect">
            <a:avLst/>
          </a:prstGeom>
          <a:noFill/>
          <a:ln/>
        </p:spPr>
        <p:txBody>
          <a:bodyPr wrap="none" lIns="0" tIns="0" rIns="0" bIns="0" rtlCol="0" anchor="t"/>
          <a:lstStyle/>
          <a:p>
            <a:pPr algn="l" indent="0" marL="0">
              <a:lnSpc>
                <a:spcPct val="101000"/>
              </a:lnSpc>
              <a:buNone/>
            </a:pPr>
            <a:r>
              <a:rPr lang="en-US" sz="1050" dirty="0">
                <a:solidFill>
                  <a:srgbClr val="D5D5D5"/>
                </a:solidFill>
                <a:latin typeface="Exo" pitchFamily="34" charset="0"/>
                <a:ea typeface="Exo" pitchFamily="34" charset="-122"/>
                <a:cs typeface="Exo" pitchFamily="34" charset="-120"/>
              </a:rPr>
              <a:t>Read lines back and rebuild each item.</a:t>
            </a:r>
            <a:endParaRPr lang="en-US" sz="1050" dirty="0"/>
          </a:p>
        </p:txBody>
      </p:sp>
      <p:sp>
        <p:nvSpPr>
          <p:cNvPr id="13" name="Text 11"/>
          <p:cNvSpPr/>
          <p:nvPr/>
        </p:nvSpPr>
        <p:spPr>
          <a:xfrm>
            <a:off x="609585" y="2161877"/>
            <a:ext cx="5333867" cy="593130"/>
          </a:xfrm>
          <a:prstGeom prst="rect">
            <a:avLst/>
          </a:prstGeom>
          <a:noFill/>
          <a:ln/>
        </p:spPr>
        <p:txBody>
          <a:bodyPr wrap="square" lIns="0" tIns="0" rIns="0" bIns="0" rtlCol="0" anchor="t"/>
          <a:lstStyle/>
          <a:p>
            <a:pPr algn="l" indent="0" marL="0">
              <a:lnSpc>
                <a:spcPct val="101000"/>
              </a:lnSpc>
              <a:spcAft>
                <a:spcPts val="400"/>
              </a:spcAft>
              <a:buNone/>
            </a:pPr>
            <a:r>
              <a:rPr lang="en-US" sz="1050" b="1" dirty="0">
                <a:solidFill>
                  <a:srgbClr val="D5D5D5"/>
                </a:solidFill>
                <a:latin typeface="Exo Bold" pitchFamily="34" charset="0"/>
                <a:ea typeface="Exo Bold" pitchFamily="34" charset="-122"/>
                <a:cs typeface="Exo Bold" pitchFamily="34" charset="-120"/>
              </a:rPr>
              <a:t>Path</a:t>
            </a:r>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 names the file; </a:t>
            </a:r>
            <a:pPr algn="l" indent="0" marL="0">
              <a:lnSpc>
                <a:spcPct val="101000"/>
              </a:lnSpc>
              <a:spcAft>
                <a:spcPts val="400"/>
              </a:spcAft>
              <a:buNone/>
            </a:pPr>
            <a:r>
              <a:rPr lang="en-US" sz="1050" b="1" dirty="0">
                <a:solidFill>
                  <a:srgbClr val="D5D5D5"/>
                </a:solidFill>
                <a:latin typeface="Exo Bold" pitchFamily="34" charset="0"/>
                <a:ea typeface="Exo Bold" pitchFamily="34" charset="-122"/>
                <a:cs typeface="Exo Bold" pitchFamily="34" charset="-120"/>
              </a:rPr>
              <a:t>Files</a:t>
            </a:r>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 opens, creates and checks it.</a:t>
            </a:r>
            <a:endParaRPr lang="en-US" sz="1050" dirty="0"/>
          </a:p>
          <a:p>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Read line by line with </a:t>
            </a:r>
            <a:pPr algn="l" indent="0" marL="0">
              <a:lnSpc>
                <a:spcPct val="101000"/>
              </a:lnSpc>
              <a:spcAft>
                <a:spcPts val="400"/>
              </a:spcAft>
              <a:buNone/>
            </a:pPr>
            <a:r>
              <a:rPr lang="en-US" sz="1050" b="1" dirty="0">
                <a:solidFill>
                  <a:srgbClr val="D5D5D5"/>
                </a:solidFill>
                <a:latin typeface="Exo Bold" pitchFamily="34" charset="0"/>
                <a:ea typeface="Exo Bold" pitchFamily="34" charset="-122"/>
                <a:cs typeface="Exo Bold" pitchFamily="34" charset="-120"/>
              </a:rPr>
              <a:t>readLine()</a:t>
            </a:r>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 until it returns null.</a:t>
            </a:r>
            <a:endParaRPr lang="en-US" sz="1050" dirty="0"/>
          </a:p>
          <a:p>
            <a:pPr algn="l" indent="0" marL="0">
              <a:lnSpc>
                <a:spcPct val="101000"/>
              </a:lnSpc>
              <a:buNone/>
            </a:pPr>
            <a:r>
              <a:rPr lang="en-US" sz="1050" dirty="0">
                <a:solidFill>
                  <a:srgbClr val="D5D5D5"/>
                </a:solidFill>
                <a:latin typeface="Exo" pitchFamily="34" charset="0"/>
                <a:ea typeface="Exo" pitchFamily="34" charset="-122"/>
                <a:cs typeface="Exo" pitchFamily="34" charset="-120"/>
              </a:rPr>
              <a:t>Append new records without erasing older ones.</a:t>
            </a:r>
            <a:endParaRPr lang="en-US" sz="1050" dirty="0"/>
          </a:p>
        </p:txBody>
      </p:sp>
      <p:sp>
        <p:nvSpPr>
          <p:cNvPr id="14" name="Text 12"/>
          <p:cNvSpPr/>
          <p:nvPr/>
        </p:nvSpPr>
        <p:spPr>
          <a:xfrm>
            <a:off x="6248244" y="2161877"/>
            <a:ext cx="5333867" cy="376833"/>
          </a:xfrm>
          <a:prstGeom prst="rect">
            <a:avLst/>
          </a:prstGeom>
          <a:noFill/>
          <a:ln/>
        </p:spPr>
        <p:txBody>
          <a:bodyPr wrap="square" lIns="0" tIns="0" rIns="0" bIns="0" rtlCol="0" anchor="t"/>
          <a:lstStyle/>
          <a:p>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Missing files raise </a:t>
            </a:r>
            <a:pPr algn="l" indent="0" marL="0">
              <a:lnSpc>
                <a:spcPct val="101000"/>
              </a:lnSpc>
              <a:spcAft>
                <a:spcPts val="400"/>
              </a:spcAft>
              <a:buNone/>
            </a:pPr>
            <a:r>
              <a:rPr lang="en-US" sz="1050" b="1" dirty="0">
                <a:solidFill>
                  <a:srgbClr val="D5D5D5"/>
                </a:solidFill>
                <a:latin typeface="Exo Bold" pitchFamily="34" charset="0"/>
                <a:ea typeface="Exo Bold" pitchFamily="34" charset="-122"/>
                <a:cs typeface="Exo Bold" pitchFamily="34" charset="-120"/>
              </a:rPr>
              <a:t>NoSuchFileException</a:t>
            </a:r>
            <a:pPr algn="l" indent="0" marL="0">
              <a:lnSpc>
                <a:spcPct val="101000"/>
              </a:lnSpc>
              <a:spcAft>
                <a:spcPts val="400"/>
              </a:spcAft>
              <a:buNone/>
            </a:pPr>
            <a:r>
              <a:rPr lang="en-US" sz="1050" dirty="0">
                <a:solidFill>
                  <a:srgbClr val="D5D5D5"/>
                </a:solidFill>
                <a:latin typeface="Exo" pitchFamily="34" charset="0"/>
                <a:ea typeface="Exo" pitchFamily="34" charset="-122"/>
                <a:cs typeface="Exo" pitchFamily="34" charset="-120"/>
              </a:rPr>
              <a:t>; the program starts empty.</a:t>
            </a:r>
            <a:endParaRPr lang="en-US" sz="1050" dirty="0"/>
          </a:p>
          <a:p>
            <a:pPr algn="l" indent="0" marL="0">
              <a:lnSpc>
                <a:spcPct val="101000"/>
              </a:lnSpc>
              <a:buNone/>
            </a:pPr>
            <a:r>
              <a:rPr lang="en-US" sz="1050" dirty="0">
                <a:solidFill>
                  <a:srgbClr val="D5D5D5"/>
                </a:solidFill>
                <a:latin typeface="Exo" pitchFamily="34" charset="0"/>
                <a:ea typeface="Exo" pitchFamily="34" charset="-122"/>
                <a:cs typeface="Exo" pitchFamily="34" charset="-120"/>
              </a:rPr>
              <a:t>Malformed records are skipped and reported, never silently stored.</a:t>
            </a:r>
            <a:endParaRPr lang="en-US" sz="1050" dirty="0"/>
          </a:p>
        </p:txBody>
      </p:sp>
      <p:sp>
        <p:nvSpPr>
          <p:cNvPr id="15" name="Shape 13"/>
          <p:cNvSpPr/>
          <p:nvPr/>
        </p:nvSpPr>
        <p:spPr>
          <a:xfrm>
            <a:off x="609585" y="2904728"/>
            <a:ext cx="10972526" cy="3674666"/>
          </a:xfrm>
          <a:prstGeom prst="roundRect">
            <a:avLst>
              <a:gd name="adj" fmla="val 311"/>
            </a:avLst>
          </a:prstGeom>
          <a:solidFill>
            <a:srgbClr val="0E1F40"/>
          </a:solidFill>
          <a:ln/>
        </p:spPr>
      </p:sp>
      <p:sp>
        <p:nvSpPr>
          <p:cNvPr id="16" name="Text 14"/>
          <p:cNvSpPr/>
          <p:nvPr/>
        </p:nvSpPr>
        <p:spPr>
          <a:xfrm>
            <a:off x="769323" y="3037880"/>
            <a:ext cx="10653049" cy="3408363"/>
          </a:xfrm>
          <a:prstGeom prst="rect">
            <a:avLst/>
          </a:prstGeom>
          <a:noFill/>
          <a:ln/>
        </p:spPr>
        <p:txBody>
          <a:bodyPr wrap="square" lIns="0" tIns="0" rIns="0" bIns="0" rtlCol="0" anchor="t">
            <a:normAutofit/>
          </a:bodyPr>
          <a:lstStyle/>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Path file = Paths.get("inventory.csv");</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try (BufferedReader in = Files.newBufferedReader(file))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String line;</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while ((line = in.readLine()) != null)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String[] parts = line.split(",");</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if (parts.length != 4)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System.out.println("Skipped malformed record: " + line);</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continue;</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 build an item from parts[0..3]</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catch (NoSuchFileException e)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System.out.println("No saved inventory yet.");</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catch (IOException e) {</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    System.out.println("Could not read file: " + e.getMessage());</a:t>
            </a:r>
            <a:endParaRPr lang="en-US" sz="1050" dirty="0"/>
          </a:p>
          <a:p>
            <a:pPr algn="l" indent="0" marL="0">
              <a:lnSpc>
                <a:spcPct val="133000"/>
              </a:lnSpc>
              <a:buNone/>
            </a:pPr>
            <a:r>
              <a:rPr lang="en-US" sz="1050" dirty="0">
                <a:solidFill>
                  <a:srgbClr val="FF7B72"/>
                </a:solidFill>
                <a:latin typeface="Consolas" pitchFamily="34" charset="0"/>
                <a:ea typeface="Consolas" pitchFamily="34" charset="-122"/>
                <a:cs typeface="Consolas" pitchFamily="34" charset="-120"/>
              </a:rPr>
              <a:t>}</a:t>
            </a:r>
            <a:endParaRPr lang="en-US" sz="1050" dirty="0"/>
          </a:p>
        </p:txBody>
      </p:sp>
      <p:sp>
        <p:nvSpPr>
          <p:cNvPr id="17" name="Text 15"/>
          <p:cNvSpPr/>
          <p:nvPr/>
        </p:nvSpPr>
        <p:spPr>
          <a:xfrm>
            <a:off x="609585" y="6730225"/>
            <a:ext cx="11582110" cy="128786"/>
          </a:xfrm>
          <a:prstGeom prst="rect">
            <a:avLst/>
          </a:prstGeom>
          <a:noFill/>
          <a:ln/>
        </p:spPr>
        <p:txBody>
          <a:bodyPr wrap="none" lIns="0" tIns="0" rIns="0" bIns="0" rtlCol="0" anchor="t"/>
          <a:lstStyle/>
          <a:p>
            <a:pPr algn="l" indent="0" marL="0">
              <a:lnSpc>
                <a:spcPct val="110000"/>
              </a:lnSpc>
              <a:buNone/>
            </a:pPr>
            <a:r>
              <a:rPr lang="en-US" sz="750" spc="8" kern="100" dirty="0">
                <a:solidFill>
                  <a:srgbClr val="9D9D9D"/>
                </a:solidFill>
                <a:latin typeface="Exo" pitchFamily="34" charset="0"/>
                <a:ea typeface="Exo" pitchFamily="34" charset="-122"/>
                <a:cs typeface="Exo" pitchFamily="34" charset="-120"/>
              </a:rPr>
              <a:t>Planned design: this code has not yet been tested against a saved file.</a:t>
            </a:r>
            <a:endParaRPr lang="en-US" sz="750" dirty="0"/>
          </a:p>
        </p:txBody>
      </p:sp>
      <p:sp>
        <p:nvSpPr>
          <p:cNvPr id="18" name="Text 16"/>
          <p:cNvSpPr/>
          <p:nvPr/>
        </p:nvSpPr>
        <p:spPr>
          <a:xfrm>
            <a:off x="11874203" y="6487021"/>
            <a:ext cx="317492" cy="132358"/>
          </a:xfrm>
          <a:prstGeom prst="rect">
            <a:avLst/>
          </a:prstGeom>
          <a:noFill/>
          <a:ln/>
        </p:spPr>
        <p:txBody>
          <a:bodyPr wrap="none" lIns="0" tIns="0" rIns="0" bIns="0" rtlCol="0" anchor="ctr"/>
          <a:lstStyle/>
          <a:p>
            <a:pPr algn="l" indent="0" marL="0">
              <a:lnSpc>
                <a:spcPct val="118000"/>
              </a:lnSpc>
              <a:buNone/>
            </a:pPr>
            <a:r>
              <a:rPr lang="en-US" sz="750" spc="59" kern="100" dirty="0">
                <a:solidFill>
                  <a:srgbClr val="9D9D9D"/>
                </a:solidFill>
                <a:latin typeface="Fira Mono" pitchFamily="34" charset="0"/>
                <a:ea typeface="Fira Mono" pitchFamily="34" charset="-122"/>
                <a:cs typeface="Fira Mono"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09585" y="612910"/>
            <a:ext cx="11582110" cy="139105"/>
          </a:xfrm>
          <a:prstGeom prst="rect">
            <a:avLst/>
          </a:prstGeom>
          <a:noFill/>
          <a:ln/>
        </p:spPr>
        <p:txBody>
          <a:bodyPr wrap="none" lIns="0" tIns="0" rIns="0" bIns="0" rtlCol="0" anchor="t"/>
          <a:lstStyle/>
          <a:p>
            <a:pPr algn="l" indent="0" marL="0">
              <a:lnSpc>
                <a:spcPct val="108000"/>
              </a:lnSpc>
              <a:buNone/>
            </a:pPr>
            <a:r>
              <a:rPr lang="en-US" sz="850" spc="72" kern="100" dirty="0">
                <a:solidFill>
                  <a:srgbClr val="B5B5B5"/>
                </a:solidFill>
                <a:latin typeface="Fira Mono Medium" pitchFamily="34" charset="0"/>
                <a:ea typeface="Fira Mono Medium" pitchFamily="34" charset="-122"/>
                <a:cs typeface="Fira Mono Medium" pitchFamily="34" charset="-120"/>
              </a:rPr>
              <a:t>SLIDE 13 · MODULE 6</a:t>
            </a:r>
            <a:endParaRPr lang="en-US" sz="850" dirty="0"/>
          </a:p>
        </p:txBody>
      </p:sp>
      <p:sp>
        <p:nvSpPr>
          <p:cNvPr id="3" name="Text 1"/>
          <p:cNvSpPr/>
          <p:nvPr/>
        </p:nvSpPr>
        <p:spPr>
          <a:xfrm>
            <a:off x="609585" y="823575"/>
            <a:ext cx="10972526" cy="458192"/>
          </a:xfrm>
          <a:prstGeom prst="rect">
            <a:avLst/>
          </a:prstGeom>
          <a:noFill/>
          <a:ln/>
        </p:spPr>
        <p:txBody>
          <a:bodyPr wrap="none" lIns="0" tIns="0" rIns="0" bIns="0" rtlCol="0" anchor="t"/>
          <a:lstStyle/>
          <a:p>
            <a:pPr algn="l" indent="0" marL="0">
              <a:lnSpc>
                <a:spcPct val="89000"/>
              </a:lnSpc>
              <a:buNone/>
            </a:pPr>
            <a:r>
              <a:rPr lang="en-US" sz="3350" spc="-40" kern="100" dirty="0">
                <a:solidFill>
                  <a:srgbClr val="ECECEC"/>
                </a:solidFill>
                <a:latin typeface="Exo SemiBold" pitchFamily="34" charset="0"/>
                <a:ea typeface="Exo SemiBold" pitchFamily="34" charset="-122"/>
                <a:cs typeface="Exo SemiBold" pitchFamily="34" charset="-120"/>
              </a:rPr>
              <a:t>Collections and generics replace fixed arrays</a:t>
            </a:r>
            <a:endParaRPr lang="en-US" sz="3350" dirty="0"/>
          </a:p>
        </p:txBody>
      </p:sp>
      <p:sp>
        <p:nvSpPr>
          <p:cNvPr id="4" name="Shape 2"/>
          <p:cNvSpPr/>
          <p:nvPr/>
        </p:nvSpPr>
        <p:spPr>
          <a:xfrm>
            <a:off x="609585" y="1405334"/>
            <a:ext cx="2743131" cy="19050"/>
          </a:xfrm>
          <a:prstGeom prst="roundRect">
            <a:avLst>
              <a:gd name="adj" fmla="val 49999"/>
            </a:avLst>
          </a:prstGeom>
          <a:solidFill>
            <a:srgbClr val="9BE1FF"/>
          </a:solidFill>
          <a:ln/>
        </p:spPr>
      </p:sp>
      <p:sp>
        <p:nvSpPr>
          <p:cNvPr id="5" name="Text 3"/>
          <p:cNvSpPr/>
          <p:nvPr/>
        </p:nvSpPr>
        <p:spPr>
          <a:xfrm>
            <a:off x="609585" y="1565176"/>
            <a:ext cx="5333867" cy="1033859"/>
          </a:xfrm>
          <a:prstGeom prst="rect">
            <a:avLst/>
          </a:prstGeom>
          <a:noFill/>
          <a:ln/>
        </p:spPr>
        <p:txBody>
          <a:bodyPr wrap="square" lIns="0" tIns="0" rIns="0" bIns="0" rtlCol="0" anchor="t">
            <a:normAutofit/>
          </a:bodyPr>
          <a:lstStyle/>
          <a:p>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List</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keeps ordered items; </a:t>
            </a:r>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ArrayList</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grows as needed</a:t>
            </a:r>
            <a:endParaRPr lang="en-US" sz="1150" dirty="0"/>
          </a:p>
          <a:p>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Set</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stores unique values; </a:t>
            </a:r>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HashSet</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rejects duplicate IDs</a:t>
            </a:r>
            <a:endParaRPr lang="en-US" sz="1150" dirty="0"/>
          </a:p>
          <a:p>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Map</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finds a value by key; </a:t>
            </a:r>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HashMap</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looks up items by ID</a:t>
            </a:r>
            <a:endParaRPr lang="en-US" sz="1150" dirty="0"/>
          </a:p>
          <a:p>
            <a:pPr algn="l" marL="233680" indent="-233680">
              <a:lnSpc>
                <a:spcPct val="105000"/>
              </a:lnSpc>
              <a:buSzPct val="100000"/>
              <a:buChar char="•"/>
            </a:pPr>
            <a:r>
              <a:rPr lang="en-US" sz="1150" b="1" dirty="0">
                <a:solidFill>
                  <a:srgbClr val="D5D5D5"/>
                </a:solidFill>
                <a:latin typeface="Exo Bold" pitchFamily="34" charset="0"/>
                <a:ea typeface="Exo Bold" pitchFamily="34" charset="-122"/>
                <a:cs typeface="Exo Bold" pitchFamily="34" charset="-120"/>
              </a:rPr>
              <a:t>Generics</a:t>
            </a:r>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 such as Map&lt;String, Item&gt; let the compiler reject wrong types</a:t>
            </a:r>
            <a:endParaRPr lang="en-US" sz="1150" dirty="0"/>
          </a:p>
          <a:p>
            <a:pPr algn="l" marL="233680" indent="-233680">
              <a:lnSpc>
                <a:spcPct val="105000"/>
              </a:lnSpc>
              <a:buSzPct val="100000"/>
              <a:buChar char="•"/>
            </a:pPr>
            <a:r>
              <a:rPr lang="en-US" sz="1150" dirty="0">
                <a:solidFill>
                  <a:srgbClr val="D5D5D5"/>
                </a:solidFill>
                <a:latin typeface="Exo" pitchFamily="34" charset="0"/>
                <a:ea typeface="Exo" pitchFamily="34" charset="-122"/>
                <a:cs typeface="Exo" pitchFamily="34" charset="-120"/>
              </a:rPr>
              <a:t>Iterate with for-each loops over values or collections</a:t>
            </a:r>
            <a:endParaRPr lang="en-US" sz="1150" dirty="0"/>
          </a:p>
        </p:txBody>
      </p:sp>
      <p:sp>
        <p:nvSpPr>
          <p:cNvPr id="6" name="Text 4"/>
          <p:cNvSpPr/>
          <p:nvPr/>
        </p:nvSpPr>
        <p:spPr>
          <a:xfrm>
            <a:off x="6248244" y="1567037"/>
            <a:ext cx="5333867" cy="548878"/>
          </a:xfrm>
          <a:prstGeom prst="rect">
            <a:avLst/>
          </a:prstGeom>
          <a:noFill/>
          <a:ln/>
        </p:spPr>
        <p:txBody>
          <a:bodyPr wrap="square" lIns="0" tIns="0" rIns="0" bIns="0" rtlCol="0" anchor="t">
            <a:normAutofit/>
          </a:bodyPr>
          <a:lstStyle/>
          <a:p>
            <a:pPr algn="l" indent="0" marL="0">
              <a:lnSpc>
                <a:spcPct val="105000"/>
              </a:lnSpc>
              <a:buNone/>
            </a:pPr>
            <a:r>
              <a:rPr lang="en-US" sz="1150" dirty="0">
                <a:solidFill>
                  <a:srgbClr val="D5D5D5"/>
                </a:solidFill>
                <a:latin typeface="Exo" pitchFamily="34" charset="0"/>
                <a:ea typeface="Exo" pitchFamily="34" charset="-122"/>
                <a:cs typeface="Exo" pitchFamily="34" charset="-120"/>
              </a:rPr>
              <a:t>The earlier array design needed a fixed size and a manual index search. Collections grow with the inventory and find items directly by key, while the Item class from Module 4 stays the same.</a:t>
            </a:r>
            <a:endParaRPr lang="en-US" sz="1150" dirty="0"/>
          </a:p>
        </p:txBody>
      </p:sp>
      <p:sp>
        <p:nvSpPr>
          <p:cNvPr id="7" name="Shape 5"/>
          <p:cNvSpPr/>
          <p:nvPr/>
        </p:nvSpPr>
        <p:spPr>
          <a:xfrm>
            <a:off x="609585" y="2763242"/>
            <a:ext cx="10972526" cy="3793827"/>
          </a:xfrm>
          <a:prstGeom prst="roundRect">
            <a:avLst>
              <a:gd name="adj" fmla="val 301"/>
            </a:avLst>
          </a:prstGeom>
          <a:solidFill>
            <a:srgbClr val="0E1F40"/>
          </a:solidFill>
          <a:ln/>
        </p:spPr>
      </p:sp>
      <p:sp>
        <p:nvSpPr>
          <p:cNvPr id="8" name="Text 6"/>
          <p:cNvSpPr/>
          <p:nvPr/>
        </p:nvSpPr>
        <p:spPr>
          <a:xfrm>
            <a:off x="784701" y="2909193"/>
            <a:ext cx="10622292" cy="3501926"/>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Map&lt;String, Item&gt; inventory = new HashMap&lt;&gt;();</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inventory.put(item.getId(), item);</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Item found = inventory.get("ITM101");</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if (found != null) {</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    System.out.println(found.getName());</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Set&lt;String&gt; ids = new HashSet&lt;&gt;();</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boolean added = ids.add("ITM101"); // false if already present</a:t>
            </a:r>
            <a:endParaRPr lang="en-US" sz="1150" dirty="0"/>
          </a:p>
          <a:p>
            <a:pPr algn="l" indent="0" marL="0">
              <a:lnSpc>
                <a:spcPct val="133000"/>
              </a:lnSpc>
              <a:buNone/>
            </a:pP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List&lt;Item&gt; items = new ArrayList&lt;&gt;(inventory.values());</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for (Item it : items) {</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    System.out.println(it.getId() + " " + it.getName());</a:t>
            </a:r>
            <a:endParaRPr lang="en-US" sz="1150" dirty="0"/>
          </a:p>
          <a:p>
            <a:pPr algn="l" indent="0" marL="0">
              <a:lnSpc>
                <a:spcPct val="133000"/>
              </a:lnSpc>
              <a:buNone/>
            </a:pPr>
            <a:r>
              <a:rPr lang="en-US" sz="1150" dirty="0">
                <a:solidFill>
                  <a:srgbClr val="E6EDF3"/>
                </a:solidFill>
                <a:latin typeface="Consolas" pitchFamily="34" charset="0"/>
                <a:ea typeface="Consolas" pitchFamily="34" charset="-122"/>
                <a:cs typeface="Consolas" pitchFamily="34" charset="-120"/>
              </a:rPr>
              <a:t>}</a:t>
            </a:r>
            <a:endParaRPr lang="en-US" sz="1150" dirty="0"/>
          </a:p>
        </p:txBody>
      </p:sp>
      <p:sp>
        <p:nvSpPr>
          <p:cNvPr id="9" name="Text 7"/>
          <p:cNvSpPr/>
          <p:nvPr/>
        </p:nvSpPr>
        <p:spPr>
          <a:xfrm>
            <a:off x="609585" y="6721277"/>
            <a:ext cx="11582110" cy="141288"/>
          </a:xfrm>
          <a:prstGeom prst="rect">
            <a:avLst/>
          </a:prstGeom>
          <a:noFill/>
          <a:ln/>
        </p:spPr>
        <p:txBody>
          <a:bodyPr wrap="none" lIns="0" tIns="0" rIns="0" bIns="0" rtlCol="0" anchor="t"/>
          <a:lstStyle/>
          <a:p>
            <a:pPr algn="l" indent="0" marL="0">
              <a:lnSpc>
                <a:spcPct val="110000"/>
              </a:lnSpc>
              <a:buNone/>
            </a:pPr>
            <a:r>
              <a:rPr lang="en-US" sz="850" spc="8" kern="100" dirty="0">
                <a:solidFill>
                  <a:srgbClr val="9D9D9D"/>
                </a:solidFill>
                <a:latin typeface="Exo" pitchFamily="34" charset="0"/>
                <a:ea typeface="Exo" pitchFamily="34" charset="-122"/>
                <a:cs typeface="Exo" pitchFamily="34" charset="-120"/>
              </a:rPr>
              <a:t>Planned example: assumes an Item class with getId() and getName() from Module 4.</a:t>
            </a:r>
            <a:endParaRPr lang="en-US" sz="850" dirty="0"/>
          </a:p>
        </p:txBody>
      </p:sp>
      <p:sp>
        <p:nvSpPr>
          <p:cNvPr id="10" name="Text 8"/>
          <p:cNvSpPr/>
          <p:nvPr/>
        </p:nvSpPr>
        <p:spPr>
          <a:xfrm>
            <a:off x="11862099" y="6480671"/>
            <a:ext cx="329596" cy="145058"/>
          </a:xfrm>
          <a:prstGeom prst="rect">
            <a:avLst/>
          </a:prstGeom>
          <a:noFill/>
          <a:ln/>
        </p:spPr>
        <p:txBody>
          <a:bodyPr wrap="none" lIns="0" tIns="0" rIns="0" bIns="0" rtlCol="0" anchor="ctr"/>
          <a:lstStyle/>
          <a:p>
            <a:pPr algn="l" indent="0" marL="0">
              <a:lnSpc>
                <a:spcPct val="118000"/>
              </a:lnSpc>
              <a:buNone/>
            </a:pPr>
            <a:r>
              <a:rPr lang="en-US" sz="800" spc="64" kern="100" dirty="0">
                <a:solidFill>
                  <a:srgbClr val="9D9D9D"/>
                </a:solidFill>
                <a:latin typeface="Fira Mono" pitchFamily="34" charset="0"/>
                <a:ea typeface="Fira Mono" pitchFamily="34" charset="-122"/>
                <a:cs typeface="Fira Mono"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09585" y="613502"/>
            <a:ext cx="11582110" cy="155773"/>
          </a:xfrm>
          <a:prstGeom prst="rect">
            <a:avLst/>
          </a:prstGeom>
          <a:noFill/>
          <a:ln/>
        </p:spPr>
        <p:txBody>
          <a:bodyPr wrap="none" lIns="0" tIns="0" rIns="0" bIns="0" rtlCol="0" anchor="t"/>
          <a:lstStyle/>
          <a:p>
            <a:pPr algn="l" indent="0" marL="0">
              <a:lnSpc>
                <a:spcPct val="108000"/>
              </a:lnSpc>
              <a:buNone/>
            </a:pPr>
            <a:r>
              <a:rPr lang="en-US" sz="950" spc="80" kern="100" dirty="0">
                <a:solidFill>
                  <a:srgbClr val="B5B5B5"/>
                </a:solidFill>
                <a:latin typeface="Fira Mono Medium" pitchFamily="34" charset="0"/>
                <a:ea typeface="Fira Mono Medium" pitchFamily="34" charset="-122"/>
                <a:cs typeface="Fira Mono Medium" pitchFamily="34" charset="-120"/>
              </a:rPr>
              <a:t>SLIDE 14 · MODULE 6</a:t>
            </a:r>
            <a:endParaRPr lang="en-US" sz="950" dirty="0"/>
          </a:p>
        </p:txBody>
      </p:sp>
      <p:sp>
        <p:nvSpPr>
          <p:cNvPr id="3" name="Text 1"/>
          <p:cNvSpPr/>
          <p:nvPr/>
        </p:nvSpPr>
        <p:spPr>
          <a:xfrm>
            <a:off x="609585" y="857467"/>
            <a:ext cx="10972526" cy="513060"/>
          </a:xfrm>
          <a:prstGeom prst="rect">
            <a:avLst/>
          </a:prstGeom>
          <a:noFill/>
          <a:ln/>
        </p:spPr>
        <p:txBody>
          <a:bodyPr wrap="none" lIns="0" tIns="0" rIns="0" bIns="0" rtlCol="0" anchor="t"/>
          <a:lstStyle/>
          <a:p>
            <a:pPr algn="l" indent="0" marL="0">
              <a:lnSpc>
                <a:spcPct val="89000"/>
              </a:lnSpc>
              <a:buNone/>
            </a:pPr>
            <a:r>
              <a:rPr lang="en-US" sz="3800" spc="-45" kern="100" dirty="0">
                <a:solidFill>
                  <a:srgbClr val="ECECEC"/>
                </a:solidFill>
                <a:latin typeface="Exo SemiBold" pitchFamily="34" charset="0"/>
                <a:ea typeface="Exo SemiBold" pitchFamily="34" charset="-122"/>
                <a:cs typeface="Exo SemiBold" pitchFamily="34" charset="-120"/>
              </a:rPr>
              <a:t>Lambdas and streams generate the reorder report</a:t>
            </a:r>
            <a:endParaRPr lang="en-US" sz="3800" dirty="0"/>
          </a:p>
        </p:txBody>
      </p:sp>
      <p:sp>
        <p:nvSpPr>
          <p:cNvPr id="4" name="Shape 2"/>
          <p:cNvSpPr/>
          <p:nvPr/>
        </p:nvSpPr>
        <p:spPr>
          <a:xfrm>
            <a:off x="609585" y="1522512"/>
            <a:ext cx="2743131" cy="19050"/>
          </a:xfrm>
          <a:prstGeom prst="roundRect">
            <a:avLst>
              <a:gd name="adj" fmla="val 49999"/>
            </a:avLst>
          </a:prstGeom>
          <a:solidFill>
            <a:srgbClr val="9BE1FF"/>
          </a:solidFill>
          <a:ln/>
        </p:spPr>
      </p:sp>
      <p:sp>
        <p:nvSpPr>
          <p:cNvPr id="5" name="Text 3"/>
          <p:cNvSpPr/>
          <p:nvPr/>
        </p:nvSpPr>
        <p:spPr>
          <a:xfrm>
            <a:off x="609585" y="1716316"/>
            <a:ext cx="3505112" cy="273248"/>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Predicate</a:t>
            </a:r>
            <a:endParaRPr lang="en-US" sz="1650" dirty="0"/>
          </a:p>
        </p:txBody>
      </p:sp>
      <p:sp>
        <p:nvSpPr>
          <p:cNvPr id="6" name="Text 4"/>
          <p:cNvSpPr/>
          <p:nvPr/>
        </p:nvSpPr>
        <p:spPr>
          <a:xfrm>
            <a:off x="609585" y="2091630"/>
            <a:ext cx="3505112" cy="215702"/>
          </a:xfrm>
          <a:prstGeom prst="rect">
            <a:avLst/>
          </a:prstGeom>
          <a:noFill/>
          <a:ln/>
        </p:spPr>
        <p:txBody>
          <a:bodyPr wrap="none" lIns="0" tIns="0" rIns="0" bIns="0" rtlCol="0" anchor="t"/>
          <a:lstStyle/>
          <a:p>
            <a:pPr algn="l" indent="0" marL="0">
              <a:lnSpc>
                <a:spcPct val="110000"/>
              </a:lnSpc>
              <a:buNone/>
            </a:pPr>
            <a:r>
              <a:rPr lang="en-US" sz="1300" dirty="0">
                <a:solidFill>
                  <a:srgbClr val="D5D5D5"/>
                </a:solidFill>
                <a:latin typeface="Exo" pitchFamily="34" charset="0"/>
                <a:ea typeface="Exo" pitchFamily="34" charset="-122"/>
                <a:cs typeface="Exo" pitchFamily="34" charset="-120"/>
              </a:rPr>
              <a:t>Tests a condition and returns true or false.</a:t>
            </a:r>
            <a:endParaRPr lang="en-US" sz="1300" dirty="0"/>
          </a:p>
        </p:txBody>
      </p:sp>
      <p:sp>
        <p:nvSpPr>
          <p:cNvPr id="7" name="Text 5"/>
          <p:cNvSpPr/>
          <p:nvPr/>
        </p:nvSpPr>
        <p:spPr>
          <a:xfrm>
            <a:off x="4419489" y="1716316"/>
            <a:ext cx="3403515" cy="273248"/>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Function</a:t>
            </a:r>
            <a:endParaRPr lang="en-US" sz="1650" dirty="0"/>
          </a:p>
        </p:txBody>
      </p:sp>
      <p:sp>
        <p:nvSpPr>
          <p:cNvPr id="8" name="Text 6"/>
          <p:cNvSpPr/>
          <p:nvPr/>
        </p:nvSpPr>
        <p:spPr>
          <a:xfrm>
            <a:off x="4419489" y="2091630"/>
            <a:ext cx="3403515" cy="215702"/>
          </a:xfrm>
          <a:prstGeom prst="rect">
            <a:avLst/>
          </a:prstGeom>
          <a:noFill/>
          <a:ln/>
        </p:spPr>
        <p:txBody>
          <a:bodyPr wrap="none" lIns="0" tIns="0" rIns="0" bIns="0" rtlCol="0" anchor="t"/>
          <a:lstStyle/>
          <a:p>
            <a:pPr algn="l" indent="0" marL="0">
              <a:lnSpc>
                <a:spcPct val="110000"/>
              </a:lnSpc>
              <a:buNone/>
            </a:pPr>
            <a:r>
              <a:rPr lang="en-US" sz="1300" dirty="0">
                <a:solidFill>
                  <a:srgbClr val="D5D5D5"/>
                </a:solidFill>
                <a:latin typeface="Exo" pitchFamily="34" charset="0"/>
                <a:ea typeface="Exo" pitchFamily="34" charset="-122"/>
                <a:cs typeface="Exo" pitchFamily="34" charset="-120"/>
              </a:rPr>
              <a:t>Transforms an input into an output.</a:t>
            </a:r>
            <a:endParaRPr lang="en-US" sz="1300" dirty="0"/>
          </a:p>
        </p:txBody>
      </p:sp>
      <p:sp>
        <p:nvSpPr>
          <p:cNvPr id="9" name="Text 7"/>
          <p:cNvSpPr/>
          <p:nvPr/>
        </p:nvSpPr>
        <p:spPr>
          <a:xfrm>
            <a:off x="8127797" y="1716316"/>
            <a:ext cx="3454314" cy="273248"/>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Consumer</a:t>
            </a:r>
            <a:endParaRPr lang="en-US" sz="1650" dirty="0"/>
          </a:p>
        </p:txBody>
      </p:sp>
      <p:sp>
        <p:nvSpPr>
          <p:cNvPr id="10" name="Text 8"/>
          <p:cNvSpPr/>
          <p:nvPr/>
        </p:nvSpPr>
        <p:spPr>
          <a:xfrm>
            <a:off x="8127797" y="2091630"/>
            <a:ext cx="3454314" cy="215702"/>
          </a:xfrm>
          <a:prstGeom prst="rect">
            <a:avLst/>
          </a:prstGeom>
          <a:noFill/>
          <a:ln/>
        </p:spPr>
        <p:txBody>
          <a:bodyPr wrap="none" lIns="0" tIns="0" rIns="0" bIns="0" rtlCol="0" anchor="t"/>
          <a:lstStyle/>
          <a:p>
            <a:pPr algn="l" indent="0" marL="0">
              <a:lnSpc>
                <a:spcPct val="110000"/>
              </a:lnSpc>
              <a:buNone/>
            </a:pPr>
            <a:r>
              <a:rPr lang="en-US" sz="1300" dirty="0">
                <a:solidFill>
                  <a:srgbClr val="D5D5D5"/>
                </a:solidFill>
                <a:latin typeface="Exo" pitchFamily="34" charset="0"/>
                <a:ea typeface="Exo" pitchFamily="34" charset="-122"/>
                <a:cs typeface="Exo" pitchFamily="34" charset="-120"/>
              </a:rPr>
              <a:t>Accepts a value and performs an action.</a:t>
            </a:r>
            <a:endParaRPr lang="en-US" sz="1300" dirty="0"/>
          </a:p>
        </p:txBody>
      </p:sp>
      <p:sp>
        <p:nvSpPr>
          <p:cNvPr id="11" name="Text 9"/>
          <p:cNvSpPr/>
          <p:nvPr/>
        </p:nvSpPr>
        <p:spPr>
          <a:xfrm>
            <a:off x="609585" y="2615238"/>
            <a:ext cx="3505112" cy="273248"/>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Supplier</a:t>
            </a:r>
            <a:endParaRPr lang="en-US" sz="1650" dirty="0"/>
          </a:p>
        </p:txBody>
      </p:sp>
      <p:sp>
        <p:nvSpPr>
          <p:cNvPr id="12" name="Text 10"/>
          <p:cNvSpPr/>
          <p:nvPr/>
        </p:nvSpPr>
        <p:spPr>
          <a:xfrm>
            <a:off x="609585" y="2990552"/>
            <a:ext cx="3505112" cy="215702"/>
          </a:xfrm>
          <a:prstGeom prst="rect">
            <a:avLst/>
          </a:prstGeom>
          <a:noFill/>
          <a:ln/>
        </p:spPr>
        <p:txBody>
          <a:bodyPr wrap="none" lIns="0" tIns="0" rIns="0" bIns="0" rtlCol="0" anchor="t"/>
          <a:lstStyle/>
          <a:p>
            <a:pPr algn="l" indent="0" marL="0">
              <a:lnSpc>
                <a:spcPct val="110000"/>
              </a:lnSpc>
              <a:buNone/>
            </a:pPr>
            <a:r>
              <a:rPr lang="en-US" sz="1300" dirty="0">
                <a:solidFill>
                  <a:srgbClr val="D5D5D5"/>
                </a:solidFill>
                <a:latin typeface="Exo" pitchFamily="34" charset="0"/>
                <a:ea typeface="Exo" pitchFamily="34" charset="-122"/>
                <a:cs typeface="Exo" pitchFamily="34" charset="-120"/>
              </a:rPr>
              <a:t>Provides a value when asked.</a:t>
            </a:r>
            <a:endParaRPr lang="en-US" sz="1300" dirty="0"/>
          </a:p>
        </p:txBody>
      </p:sp>
      <p:sp>
        <p:nvSpPr>
          <p:cNvPr id="13" name="Text 11"/>
          <p:cNvSpPr/>
          <p:nvPr/>
        </p:nvSpPr>
        <p:spPr>
          <a:xfrm>
            <a:off x="4419489" y="2615238"/>
            <a:ext cx="7162621" cy="273248"/>
          </a:xfrm>
          <a:prstGeom prst="rect">
            <a:avLst/>
          </a:prstGeom>
          <a:noFill/>
          <a:ln/>
        </p:spPr>
        <p:txBody>
          <a:bodyPr wrap="none" lIns="0" tIns="0" rIns="0" bIns="0" rtlCol="0" anchor="t"/>
          <a:lstStyle/>
          <a:p>
            <a:pPr algn="l" indent="0" marL="0">
              <a:lnSpc>
                <a:spcPct val="110000"/>
              </a:lnSpc>
              <a:buNone/>
            </a:pPr>
            <a:r>
              <a:rPr lang="en-US" sz="1650" dirty="0">
                <a:solidFill>
                  <a:srgbClr val="D5D5D5"/>
                </a:solidFill>
                <a:latin typeface="Exo" pitchFamily="34" charset="0"/>
                <a:ea typeface="Exo" pitchFamily="34" charset="-122"/>
                <a:cs typeface="Exo" pitchFamily="34" charset="-120"/>
              </a:rPr>
              <a:t>Comparator</a:t>
            </a:r>
            <a:endParaRPr lang="en-US" sz="1650" dirty="0"/>
          </a:p>
        </p:txBody>
      </p:sp>
      <p:sp>
        <p:nvSpPr>
          <p:cNvPr id="14" name="Text 12"/>
          <p:cNvSpPr/>
          <p:nvPr/>
        </p:nvSpPr>
        <p:spPr>
          <a:xfrm>
            <a:off x="4419489" y="2990552"/>
            <a:ext cx="7162621" cy="215702"/>
          </a:xfrm>
          <a:prstGeom prst="rect">
            <a:avLst/>
          </a:prstGeom>
          <a:noFill/>
          <a:ln/>
        </p:spPr>
        <p:txBody>
          <a:bodyPr wrap="none" lIns="0" tIns="0" rIns="0" bIns="0" rtlCol="0" anchor="t"/>
          <a:lstStyle/>
          <a:p>
            <a:pPr algn="l" indent="0" marL="0">
              <a:lnSpc>
                <a:spcPct val="110000"/>
              </a:lnSpc>
              <a:buNone/>
            </a:pPr>
            <a:r>
              <a:rPr lang="en-US" sz="1300" dirty="0">
                <a:solidFill>
                  <a:srgbClr val="D5D5D5"/>
                </a:solidFill>
                <a:latin typeface="Exo" pitchFamily="34" charset="0"/>
                <a:ea typeface="Exo" pitchFamily="34" charset="-122"/>
                <a:cs typeface="Exo" pitchFamily="34" charset="-120"/>
              </a:rPr>
              <a:t>Compares two items for custom sorting.</a:t>
            </a:r>
            <a:endParaRPr lang="en-US" sz="1300" dirty="0"/>
          </a:p>
        </p:txBody>
      </p:sp>
      <p:sp>
        <p:nvSpPr>
          <p:cNvPr id="15" name="Text 13"/>
          <p:cNvSpPr/>
          <p:nvPr/>
        </p:nvSpPr>
        <p:spPr>
          <a:xfrm>
            <a:off x="609585" y="3337123"/>
            <a:ext cx="11582110" cy="215702"/>
          </a:xfrm>
          <a:prstGeom prst="rect">
            <a:avLst/>
          </a:prstGeom>
          <a:noFill/>
          <a:ln/>
        </p:spPr>
        <p:txBody>
          <a:bodyPr wrap="none" lIns="0" tIns="0" rIns="0" bIns="0" rtlCol="0" anchor="t"/>
          <a:lstStyle/>
          <a:p>
            <a:pPr algn="l" indent="0" marL="0">
              <a:lnSpc>
                <a:spcPct val="110000"/>
              </a:lnSpc>
              <a:buNone/>
            </a:pPr>
            <a:r>
              <a:rPr lang="en-US" sz="1300" b="1" dirty="0">
                <a:solidFill>
                  <a:srgbClr val="D5D5D5"/>
                </a:solidFill>
                <a:latin typeface="Exo Bold" pitchFamily="34" charset="0"/>
                <a:ea typeface="Exo Bold" pitchFamily="34" charset="-122"/>
                <a:cs typeface="Exo Bold" pitchFamily="34" charset="-120"/>
              </a:rPr>
              <a:t>Inventory Collection</a:t>
            </a:r>
            <a:pPr algn="l" indent="0" marL="0">
              <a:lnSpc>
                <a:spcPct val="110000"/>
              </a:lnSpc>
              <a:buNone/>
            </a:pPr>
            <a:r>
              <a:rPr lang="en-US" sz="1300" dirty="0">
                <a:solidFill>
                  <a:srgbClr val="D5D5D5"/>
                </a:solidFill>
                <a:latin typeface="Exo" pitchFamily="34" charset="0"/>
                <a:ea typeface="Exo" pitchFamily="34" charset="-122"/>
                <a:cs typeface="Exo" pitchFamily="34" charset="-120"/>
              </a:rPr>
              <a:t> → </a:t>
            </a:r>
            <a:pPr algn="l" indent="0" marL="0">
              <a:lnSpc>
                <a:spcPct val="110000"/>
              </a:lnSpc>
              <a:buNone/>
            </a:pPr>
            <a:r>
              <a:rPr lang="en-US" sz="1300" b="1" dirty="0">
                <a:solidFill>
                  <a:srgbClr val="D5D5D5"/>
                </a:solidFill>
                <a:latin typeface="Exo Bold" pitchFamily="34" charset="0"/>
                <a:ea typeface="Exo Bold" pitchFamily="34" charset="-122"/>
                <a:cs typeface="Exo Bold" pitchFamily="34" charset="-120"/>
              </a:rPr>
              <a:t>Filter Low Stock</a:t>
            </a:r>
            <a:pPr algn="l" indent="0" marL="0">
              <a:lnSpc>
                <a:spcPct val="110000"/>
              </a:lnSpc>
              <a:buNone/>
            </a:pPr>
            <a:r>
              <a:rPr lang="en-US" sz="1300" dirty="0">
                <a:solidFill>
                  <a:srgbClr val="D5D5D5"/>
                </a:solidFill>
                <a:latin typeface="Exo" pitchFamily="34" charset="0"/>
                <a:ea typeface="Exo" pitchFamily="34" charset="-122"/>
                <a:cs typeface="Exo" pitchFamily="34" charset="-120"/>
              </a:rPr>
              <a:t> → </a:t>
            </a:r>
            <a:pPr algn="l" indent="0" marL="0">
              <a:lnSpc>
                <a:spcPct val="110000"/>
              </a:lnSpc>
              <a:buNone/>
            </a:pPr>
            <a:r>
              <a:rPr lang="en-US" sz="1300" b="1" dirty="0">
                <a:solidFill>
                  <a:srgbClr val="D5D5D5"/>
                </a:solidFill>
                <a:latin typeface="Exo Bold" pitchFamily="34" charset="0"/>
                <a:ea typeface="Exo Bold" pitchFamily="34" charset="-122"/>
                <a:cs typeface="Exo Bold" pitchFamily="34" charset="-120"/>
              </a:rPr>
              <a:t>Sort Results</a:t>
            </a:r>
            <a:pPr algn="l" indent="0" marL="0">
              <a:lnSpc>
                <a:spcPct val="110000"/>
              </a:lnSpc>
              <a:buNone/>
            </a:pPr>
            <a:r>
              <a:rPr lang="en-US" sz="1300" dirty="0">
                <a:solidFill>
                  <a:srgbClr val="D5D5D5"/>
                </a:solidFill>
                <a:latin typeface="Exo" pitchFamily="34" charset="0"/>
                <a:ea typeface="Exo" pitchFamily="34" charset="-122"/>
                <a:cs typeface="Exo" pitchFamily="34" charset="-120"/>
              </a:rPr>
              <a:t> → </a:t>
            </a:r>
            <a:pPr algn="l" indent="0" marL="0">
              <a:lnSpc>
                <a:spcPct val="110000"/>
              </a:lnSpc>
              <a:buNone/>
            </a:pPr>
            <a:r>
              <a:rPr lang="en-US" sz="1300" b="1" dirty="0">
                <a:solidFill>
                  <a:srgbClr val="D5D5D5"/>
                </a:solidFill>
                <a:latin typeface="Exo Bold" pitchFamily="34" charset="0"/>
                <a:ea typeface="Exo Bold" pitchFamily="34" charset="-122"/>
                <a:cs typeface="Exo Bold" pitchFamily="34" charset="-120"/>
              </a:rPr>
              <a:t>Generate Reorder Report</a:t>
            </a:r>
            <a:endParaRPr lang="en-US" sz="1300" dirty="0"/>
          </a:p>
        </p:txBody>
      </p:sp>
      <p:sp>
        <p:nvSpPr>
          <p:cNvPr id="16" name="Shape 14"/>
          <p:cNvSpPr/>
          <p:nvPr/>
        </p:nvSpPr>
        <p:spPr>
          <a:xfrm>
            <a:off x="609585" y="3736677"/>
            <a:ext cx="10972526" cy="2419152"/>
          </a:xfrm>
          <a:prstGeom prst="roundRect">
            <a:avLst>
              <a:gd name="adj" fmla="val 472"/>
            </a:avLst>
          </a:prstGeom>
          <a:solidFill>
            <a:srgbClr val="0E1F40"/>
          </a:solidFill>
          <a:ln/>
        </p:spPr>
      </p:sp>
      <p:sp>
        <p:nvSpPr>
          <p:cNvPr id="17" name="Text 15"/>
          <p:cNvSpPr/>
          <p:nvPr/>
        </p:nvSpPr>
        <p:spPr>
          <a:xfrm>
            <a:off x="805735" y="3900091"/>
            <a:ext cx="10580224" cy="2092325"/>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List&lt;Item&gt; reorder = items.stream()</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.filter(item -&gt; item.getQuantity() &lt;= item.getReorderLevel())</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.sorted(Comparator.comparingInt(Item::getQuantity))</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.collect(Collectors.toList());</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reorder.forEach(item -&gt;</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System.out.println(item.getId() + " " + item.getName()</a:t>
            </a:r>
            <a:endParaRPr lang="en-US" sz="1300" dirty="0"/>
          </a:p>
          <a:p>
            <a:pPr algn="l" indent="0" marL="0">
              <a:lnSpc>
                <a:spcPct val="133000"/>
              </a:lnSpc>
              <a:buNone/>
            </a:pPr>
            <a:r>
              <a:rPr lang="en-US" sz="1300" dirty="0">
                <a:solidFill>
                  <a:srgbClr val="E6EDF3"/>
                </a:solidFill>
                <a:latin typeface="Consolas" pitchFamily="34" charset="0"/>
                <a:ea typeface="Consolas" pitchFamily="34" charset="-122"/>
                <a:cs typeface="Consolas" pitchFamily="34" charset="-120"/>
              </a:rPr>
              <a:t>        + " qty=" + item.getQuantity()));</a:t>
            </a:r>
            <a:endParaRPr lang="en-US" sz="1300" dirty="0"/>
          </a:p>
        </p:txBody>
      </p:sp>
      <p:sp>
        <p:nvSpPr>
          <p:cNvPr id="18" name="Text 16"/>
          <p:cNvSpPr/>
          <p:nvPr/>
        </p:nvSpPr>
        <p:spPr>
          <a:xfrm>
            <a:off x="609585" y="6342983"/>
            <a:ext cx="11582110" cy="158155"/>
          </a:xfrm>
          <a:prstGeom prst="rect">
            <a:avLst/>
          </a:prstGeom>
          <a:noFill/>
          <a:ln/>
        </p:spPr>
        <p:txBody>
          <a:bodyPr wrap="none" lIns="0" tIns="0" rIns="0" bIns="0" rtlCol="0" anchor="t"/>
          <a:lstStyle/>
          <a:p>
            <a:pPr algn="l" indent="0" marL="0">
              <a:lnSpc>
                <a:spcPct val="110000"/>
              </a:lnSpc>
              <a:buNone/>
            </a:pPr>
            <a:r>
              <a:rPr lang="en-US" sz="950" spc="9" kern="100" dirty="0">
                <a:solidFill>
                  <a:srgbClr val="9D9D9D"/>
                </a:solidFill>
                <a:latin typeface="Exo" pitchFamily="34" charset="0"/>
                <a:ea typeface="Exo" pitchFamily="34" charset="-122"/>
                <a:cs typeface="Exo" pitchFamily="34" charset="-120"/>
              </a:rPr>
              <a:t>Planned example: pipeline shown for design review and not yet run against saved data.</a:t>
            </a:r>
            <a:endParaRPr lang="en-US" sz="950" dirty="0"/>
          </a:p>
        </p:txBody>
      </p:sp>
      <p:sp>
        <p:nvSpPr>
          <p:cNvPr id="19" name="Text 17"/>
          <p:cNvSpPr/>
          <p:nvPr/>
        </p:nvSpPr>
        <p:spPr>
          <a:xfrm>
            <a:off x="11845331" y="6471940"/>
            <a:ext cx="346364" cy="162421"/>
          </a:xfrm>
          <a:prstGeom prst="rect">
            <a:avLst/>
          </a:prstGeom>
          <a:noFill/>
          <a:ln/>
        </p:spPr>
        <p:txBody>
          <a:bodyPr wrap="none" lIns="0" tIns="0" rIns="0" bIns="0" rtlCol="0" anchor="ctr"/>
          <a:lstStyle/>
          <a:p>
            <a:pPr algn="l" indent="0" marL="0">
              <a:lnSpc>
                <a:spcPct val="118000"/>
              </a:lnSpc>
              <a:buNone/>
            </a:pPr>
            <a:r>
              <a:rPr lang="en-US" sz="900" spc="72" kern="100" dirty="0">
                <a:solidFill>
                  <a:srgbClr val="9D9D9D"/>
                </a:solidFill>
                <a:latin typeface="Fira Mono" pitchFamily="34" charset="0"/>
                <a:ea typeface="Fira Mono" pitchFamily="34" charset="-122"/>
                <a:cs typeface="Fira Mono"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09585" y="611822"/>
            <a:ext cx="11582110" cy="181570"/>
          </a:xfrm>
          <a:prstGeom prst="rect">
            <a:avLst/>
          </a:prstGeom>
          <a:noFill/>
          <a:ln/>
        </p:spPr>
        <p:txBody>
          <a:bodyPr wrap="none" lIns="0" tIns="0" rIns="0" bIns="0" rtlCol="0" anchor="t"/>
          <a:lstStyle/>
          <a:p>
            <a:pPr algn="l" indent="0" marL="0">
              <a:lnSpc>
                <a:spcPct val="108000"/>
              </a:lnSpc>
              <a:buNone/>
            </a:pPr>
            <a:r>
              <a:rPr lang="en-US" sz="1100" spc="93" kern="100" dirty="0">
                <a:solidFill>
                  <a:srgbClr val="B5B5B5"/>
                </a:solidFill>
                <a:latin typeface="Fira Mono Medium" pitchFamily="34" charset="0"/>
                <a:ea typeface="Fira Mono Medium" pitchFamily="34" charset="-122"/>
                <a:cs typeface="Fira Mono Medium" pitchFamily="34" charset="-120"/>
              </a:rPr>
              <a:t>SLIDE 15 · INTEGRATION, TESTING AND CONCLUSION</a:t>
            </a:r>
            <a:endParaRPr lang="en-US" sz="1100" dirty="0"/>
          </a:p>
        </p:txBody>
      </p:sp>
      <p:sp>
        <p:nvSpPr>
          <p:cNvPr id="3" name="Text 1"/>
          <p:cNvSpPr/>
          <p:nvPr/>
        </p:nvSpPr>
        <p:spPr>
          <a:xfrm>
            <a:off x="609585" y="911566"/>
            <a:ext cx="10972526" cy="597892"/>
          </a:xfrm>
          <a:prstGeom prst="rect">
            <a:avLst/>
          </a:prstGeom>
          <a:noFill/>
          <a:ln/>
        </p:spPr>
        <p:txBody>
          <a:bodyPr wrap="none" lIns="0" tIns="0" rIns="0" bIns="0" rtlCol="0" anchor="t"/>
          <a:lstStyle/>
          <a:p>
            <a:pPr algn="l" indent="0" marL="0">
              <a:lnSpc>
                <a:spcPct val="89000"/>
              </a:lnSpc>
              <a:buNone/>
            </a:pPr>
            <a:r>
              <a:rPr lang="en-US" sz="4400" spc="-53" kern="100" dirty="0">
                <a:solidFill>
                  <a:srgbClr val="ECECEC"/>
                </a:solidFill>
                <a:latin typeface="Exo SemiBold" pitchFamily="34" charset="0"/>
                <a:ea typeface="Exo SemiBold" pitchFamily="34" charset="-122"/>
                <a:cs typeface="Exo SemiBold" pitchFamily="34" charset="-120"/>
              </a:rPr>
              <a:t>Six modules form one system</a:t>
            </a:r>
            <a:endParaRPr lang="en-US" sz="4400" dirty="0"/>
          </a:p>
        </p:txBody>
      </p:sp>
      <p:sp>
        <p:nvSpPr>
          <p:cNvPr id="4" name="Shape 2"/>
          <p:cNvSpPr/>
          <p:nvPr/>
        </p:nvSpPr>
        <p:spPr>
          <a:xfrm>
            <a:off x="609585" y="1711325"/>
            <a:ext cx="2743131" cy="31651"/>
          </a:xfrm>
          <a:prstGeom prst="roundRect">
            <a:avLst>
              <a:gd name="adj" fmla="val 49998"/>
            </a:avLst>
          </a:prstGeom>
          <a:solidFill>
            <a:srgbClr val="9BE1FF"/>
          </a:solidFill>
          <a:ln/>
        </p:spPr>
      </p:sp>
      <p:sp>
        <p:nvSpPr>
          <p:cNvPr id="5" name="Text 3"/>
          <p:cNvSpPr/>
          <p:nvPr/>
        </p:nvSpPr>
        <p:spPr>
          <a:xfrm>
            <a:off x="609585" y="1966913"/>
            <a:ext cx="11582110" cy="270470"/>
          </a:xfrm>
          <a:prstGeom prst="rect">
            <a:avLst/>
          </a:prstGeom>
          <a:noFill/>
          <a:ln/>
        </p:spPr>
        <p:txBody>
          <a:bodyPr wrap="none" lIns="0" tIns="0" rIns="0" bIns="0" rtlCol="0" anchor="t"/>
          <a:lstStyle/>
          <a:p>
            <a:pPr algn="l" indent="0" marL="0">
              <a:lnSpc>
                <a:spcPct val="118000"/>
              </a:lnSpc>
              <a:buNone/>
            </a:pPr>
            <a:r>
              <a:rPr lang="en-US" sz="1500" dirty="0">
                <a:solidFill>
                  <a:srgbClr val="D5D5D5"/>
                </a:solidFill>
                <a:latin typeface="Exo" pitchFamily="34" charset="0"/>
                <a:ea typeface="Exo" pitchFamily="34" charset="-122"/>
                <a:cs typeface="Exo" pitchFamily="34" charset="-120"/>
              </a:rPr>
              <a:t>Input → Validate → Add/Remove Stock → Update Inventory → Persist Data → Detect Low Stock → Reorder Report</a:t>
            </a:r>
            <a:endParaRPr lang="en-US" sz="1500" dirty="0"/>
          </a:p>
        </p:txBody>
      </p:sp>
      <p:sp>
        <p:nvSpPr>
          <p:cNvPr id="6" name="Text 4"/>
          <p:cNvSpPr/>
          <p:nvPr/>
        </p:nvSpPr>
        <p:spPr>
          <a:xfrm>
            <a:off x="609585" y="2415183"/>
            <a:ext cx="5333867" cy="1876822"/>
          </a:xfrm>
          <a:prstGeom prst="rect">
            <a:avLst/>
          </a:prstGeom>
          <a:noFill/>
          <a:ln/>
        </p:spPr>
        <p:txBody>
          <a:bodyPr wrap="square" lIns="0" tIns="0" rIns="0" bIns="0" rtlCol="0" anchor="t">
            <a:normAutofit/>
          </a:bodyPr>
          <a:lstStyle/>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M1</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Java fundamentals</a:t>
            </a:r>
            <a:endParaRPr lang="en-US" sz="1500" dirty="0"/>
          </a:p>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M2</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decisions and loops</a:t>
            </a:r>
            <a:endParaRPr lang="en-US" sz="1500" dirty="0"/>
          </a:p>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M3</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methods, recursion and arrays</a:t>
            </a:r>
            <a:endParaRPr lang="en-US" sz="1500" dirty="0"/>
          </a:p>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M4</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OOP and exceptions</a:t>
            </a:r>
            <a:endParaRPr lang="en-US" sz="1500" dirty="0"/>
          </a:p>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M5</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strings, algorithms and file I/O</a:t>
            </a:r>
            <a:endParaRPr lang="en-US" sz="1500" dirty="0"/>
          </a:p>
          <a:p>
            <a:pPr algn="l" marL="304800" indent="-304800">
              <a:lnSpc>
                <a:spcPct val="118000"/>
              </a:lnSpc>
              <a:buSzPct val="100000"/>
              <a:buChar char="•"/>
            </a:pPr>
            <a:r>
              <a:rPr lang="en-US" sz="1500" b="1" dirty="0">
                <a:solidFill>
                  <a:srgbClr val="D5D5D5"/>
                </a:solidFill>
                <a:latin typeface="Exo Bold" pitchFamily="34" charset="0"/>
                <a:ea typeface="Exo Bold" pitchFamily="34" charset="-122"/>
                <a:cs typeface="Exo Bold" pitchFamily="34" charset="-120"/>
              </a:rPr>
              <a:t>M6</a:t>
            </a:r>
            <a:pPr algn="l" marL="304800" indent="-304800">
              <a:lnSpc>
                <a:spcPct val="118000"/>
              </a:lnSpc>
              <a:buSzPct val="100000"/>
              <a:buChar char="•"/>
            </a:pPr>
            <a:r>
              <a:rPr lang="en-US" sz="1500" dirty="0">
                <a:solidFill>
                  <a:srgbClr val="D5D5D5"/>
                </a:solidFill>
                <a:latin typeface="Exo" pitchFamily="34" charset="0"/>
                <a:ea typeface="Exo" pitchFamily="34" charset="-122"/>
                <a:cs typeface="Exo" pitchFamily="34" charset="-120"/>
              </a:rPr>
              <a:t> collections, generics, lambdas and streams</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48244" y="2415183"/>
          <a:ext cx="5333867" cy="914400"/>
        </p:xfrm>
        <a:graphic>
          <a:graphicData uri="http://schemas.openxmlformats.org/drawingml/2006/table">
            <a:tbl>
              <a:tblPr/>
              <a:tblGrid>
                <a:gridCol w="2666933"/>
                <a:gridCol w="2666933"/>
              </a:tblGrid>
              <a:tr h="429210">
                <a:tc>
                  <a:txBody>
                    <a:bodyPr/>
                    <a:lstStyle/>
                    <a:p>
                      <a:pPr algn="l" indent="0" marL="0">
                        <a:buNone/>
                      </a:pPr>
                      <a:r>
                        <a:rPr lang="en-US" sz="1500" dirty="0">
                          <a:solidFill>
                            <a:srgbClr val="ECECEC"/>
                          </a:solidFill>
                          <a:latin typeface="Exo" pitchFamily="34" charset="0"/>
                          <a:ea typeface="Exo" pitchFamily="34" charset="-122"/>
                          <a:cs typeface="Exo" pitchFamily="34" charset="-120"/>
                        </a:rPr>
                        <a:t>Test</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ECECEC"/>
                          </a:solidFill>
                          <a:latin typeface="Exo" pitchFamily="34" charset="0"/>
                          <a:ea typeface="Exo" pitchFamily="34" charset="-122"/>
                          <a:cs typeface="Exo" pitchFamily="34" charset="-120"/>
                        </a:rPr>
                        <a:t>Status</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050505"/>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D5D5D5"/>
                          </a:solidFill>
                          <a:latin typeface="Exo" pitchFamily="34" charset="0"/>
                          <a:ea typeface="Exo" pitchFamily="34" charset="-122"/>
                          <a:cs typeface="Exo" pitchFamily="34" charset="-120"/>
                        </a:rPr>
                        <a:t>Stock addition</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D5D5D5"/>
                          </a:solidFill>
                          <a:latin typeface="Exo" pitchFamily="34" charset="0"/>
                          <a:ea typeface="Exo" pitchFamily="34" charset="-122"/>
                          <a:cs typeface="Exo" pitchFamily="34" charset="-120"/>
                        </a:rPr>
                        <a:t>Insufficient-stock removal</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D5D5D5"/>
                          </a:solidFill>
                          <a:latin typeface="Exo" pitchFamily="34" charset="0"/>
                          <a:ea typeface="Exo" pitchFamily="34" charset="-122"/>
                          <a:cs typeface="Exo" pitchFamily="34" charset="-120"/>
                        </a:rPr>
                        <a:t>Low-stock detection</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D5D5D5"/>
                          </a:solidFill>
                          <a:latin typeface="Exo" pitchFamily="34" charset="0"/>
                          <a:ea typeface="Exo" pitchFamily="34" charset="-122"/>
                          <a:cs typeface="Exo" pitchFamily="34" charset="-120"/>
                        </a:rPr>
                        <a:t>Invalid input</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9210">
                <a:tc>
                  <a:txBody>
                    <a:bodyPr/>
                    <a:lstStyle/>
                    <a:p>
                      <a:pPr algn="l" indent="0" marL="0">
                        <a:buNone/>
                      </a:pPr>
                      <a:r>
                        <a:rPr lang="en-US" sz="1500" dirty="0">
                          <a:solidFill>
                            <a:srgbClr val="D5D5D5"/>
                          </a:solidFill>
                          <a:latin typeface="Exo" pitchFamily="34" charset="0"/>
                          <a:ea typeface="Exo" pitchFamily="34" charset="-122"/>
                          <a:cs typeface="Exo" pitchFamily="34" charset="-120"/>
                        </a:rPr>
                        <a:t>File loading</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3F3F3F"/>
                      </a:solidFill>
                      <a:prstDash val="solid"/>
                      <a:round/>
                      <a:headEnd type="none" w="med" len="med"/>
                      <a:tailEnd type="none" w="med" len="med"/>
                    </a:lnB>
                  </a:tcPr>
                </a:tc>
              </a:tr>
              <a:tr h="422860">
                <a:tc>
                  <a:txBody>
                    <a:bodyPr/>
                    <a:lstStyle/>
                    <a:p>
                      <a:pPr algn="l" indent="0" marL="0">
                        <a:buNone/>
                      </a:pPr>
                      <a:r>
                        <a:rPr lang="en-US" sz="1500" dirty="0">
                          <a:solidFill>
                            <a:srgbClr val="D5D5D5"/>
                          </a:solidFill>
                          <a:latin typeface="Exo" pitchFamily="34" charset="0"/>
                          <a:ea typeface="Exo" pitchFamily="34" charset="-122"/>
                          <a:cs typeface="Exo" pitchFamily="34" charset="-120"/>
                        </a:rPr>
                        <a:t>Reorder report</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c>
                  <a:txBody>
                    <a:bodyPr/>
                    <a:lstStyle/>
                    <a:p>
                      <a:pPr algn="l" indent="0" marL="0">
                        <a:buNone/>
                      </a:pPr>
                      <a:r>
                        <a:rPr lang="en-US" sz="1500" dirty="0">
                          <a:solidFill>
                            <a:srgbClr val="D5D5D5"/>
                          </a:solidFill>
                          <a:latin typeface="Exo" pitchFamily="34" charset="0"/>
                          <a:ea typeface="Exo" pitchFamily="34" charset="-122"/>
                          <a:cs typeface="Exo" pitchFamily="34" charset="-120"/>
                        </a:rPr>
                        <a:t>Planned</a:t>
                      </a:r>
                      <a:endParaRPr lang="en-US" sz="1500" dirty="0">
                        <a:latin typeface="Exo" charset="0"/>
                        <a:ea typeface="Exo" charset="0"/>
                        <a:cs typeface="Exo" charset="0"/>
                      </a:endParaRPr>
                    </a:p>
                  </a:txBody>
                  <a:tcPr marL="142871" marR="142871" marT="76198" marB="76198" anchor="ctr">
                    <a:lnL w="12700" cap="flat" cmpd="sng" algn="ctr">
                      <a:solidFill>
                        <a:srgbClr val="050505"/>
                      </a:solidFill>
                      <a:prstDash val="solid"/>
                      <a:round/>
                      <a:headEnd type="none" w="med" len="med"/>
                      <a:tailEnd type="none" w="med" len="med"/>
                    </a:lnL>
                    <a:lnR w="12700" cap="flat" cmpd="sng" algn="ctr">
                      <a:solidFill>
                        <a:srgbClr val="050505"/>
                      </a:solidFill>
                      <a:prstDash val="solid"/>
                      <a:round/>
                      <a:headEnd type="none" w="med" len="med"/>
                      <a:tailEnd type="none" w="med" len="med"/>
                    </a:lnR>
                    <a:lnT w="12700" cap="flat" cmpd="sng" algn="ctr">
                      <a:solidFill>
                        <a:srgbClr val="3F3F3F"/>
                      </a:solidFill>
                      <a:prstDash val="solid"/>
                      <a:round/>
                      <a:headEnd type="none" w="med" len="med"/>
                      <a:tailEnd type="none" w="med" len="med"/>
                    </a:lnT>
                    <a:lnB w="12700" cap="flat" cmpd="sng" algn="ctr">
                      <a:solidFill>
                        <a:srgbClr val="050505"/>
                      </a:solidFill>
                      <a:prstDash val="solid"/>
                      <a:round/>
                      <a:headEnd type="none" w="med" len="med"/>
                      <a:tailEnd type="none" w="med" len="med"/>
                    </a:lnB>
                  </a:tcPr>
                </a:tc>
              </a:tr>
            </a:tbl>
          </a:graphicData>
        </a:graphic>
      </p:graphicFrame>
      <p:sp>
        <p:nvSpPr>
          <p:cNvPr id="8" name="Text 5"/>
          <p:cNvSpPr/>
          <p:nvPr/>
        </p:nvSpPr>
        <p:spPr>
          <a:xfrm>
            <a:off x="609585" y="5591175"/>
            <a:ext cx="10972526" cy="718741"/>
          </a:xfrm>
          <a:prstGeom prst="rect">
            <a:avLst/>
          </a:prstGeom>
          <a:noFill/>
          <a:ln/>
        </p:spPr>
        <p:txBody>
          <a:bodyPr wrap="square" lIns="0" tIns="0" rIns="0" bIns="0" rtlCol="0" anchor="t"/>
          <a:lstStyle/>
          <a:p>
            <a:pPr algn="l" indent="0" marL="0">
              <a:lnSpc>
                <a:spcPct val="118000"/>
              </a:lnSpc>
              <a:spcAft>
                <a:spcPts val="1350"/>
              </a:spcAft>
              <a:buNone/>
            </a:pPr>
            <a:r>
              <a:rPr lang="en-US" sz="1500" b="1" dirty="0">
                <a:solidFill>
                  <a:srgbClr val="D5D5D5"/>
                </a:solidFill>
                <a:latin typeface="Exo Bold" pitchFamily="34" charset="0"/>
                <a:ea typeface="Exo Bold" pitchFamily="34" charset="-122"/>
                <a:cs typeface="Exo Bold" pitchFamily="34" charset="-120"/>
              </a:rPr>
              <a:t>Benefits:</a:t>
            </a:r>
            <a:pPr algn="l" indent="0" marL="0">
              <a:lnSpc>
                <a:spcPct val="118000"/>
              </a:lnSpc>
              <a:spcAft>
                <a:spcPts val="1350"/>
              </a:spcAft>
              <a:buNone/>
            </a:pPr>
            <a:r>
              <a:rPr lang="en-US" sz="1500" dirty="0">
                <a:solidFill>
                  <a:srgbClr val="D5D5D5"/>
                </a:solidFill>
                <a:latin typeface="Exo" pitchFamily="34" charset="0"/>
                <a:ea typeface="Exo" pitchFamily="34" charset="-122"/>
                <a:cs typeface="Exo" pitchFamily="34" charset="-120"/>
              </a:rPr>
              <a:t> consistent records, early low-stock alerts, repeatable reports.</a:t>
            </a:r>
            <a:endParaRPr lang="en-US" sz="1500" dirty="0"/>
          </a:p>
          <a:p>
            <a:pPr algn="l" indent="0" marL="0">
              <a:lnSpc>
                <a:spcPct val="118000"/>
              </a:lnSpc>
              <a:buNone/>
            </a:pPr>
            <a:r>
              <a:rPr lang="en-US" sz="1500" b="1" dirty="0">
                <a:solidFill>
                  <a:srgbClr val="D5D5D5"/>
                </a:solidFill>
                <a:latin typeface="Exo Bold" pitchFamily="34" charset="0"/>
                <a:ea typeface="Exo Bold" pitchFamily="34" charset="-122"/>
                <a:cs typeface="Exo Bold" pitchFamily="34" charset="-120"/>
              </a:rPr>
              <a:t>Future enhancements:</a:t>
            </a:r>
            <a:pPr algn="l" indent="0" marL="0">
              <a:lnSpc>
                <a:spcPct val="118000"/>
              </a:lnSpc>
              <a:buNone/>
            </a:pPr>
            <a:r>
              <a:rPr lang="en-US" sz="1500" dirty="0">
                <a:solidFill>
                  <a:srgbClr val="D5D5D5"/>
                </a:solidFill>
                <a:latin typeface="Exo" pitchFamily="34" charset="0"/>
                <a:ea typeface="Exo" pitchFamily="34" charset="-122"/>
                <a:cs typeface="Exo" pitchFamily="34" charset="-120"/>
              </a:rPr>
              <a:t> database integration, barcode scanning, a dashboard and authentication.</a:t>
            </a:r>
            <a:endParaRPr lang="en-US" sz="1500" dirty="0"/>
          </a:p>
        </p:txBody>
      </p:sp>
      <p:sp>
        <p:nvSpPr>
          <p:cNvPr id="9" name="Text 6"/>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819634" y="6458545"/>
            <a:ext cx="372061" cy="189309"/>
          </a:xfrm>
          <a:prstGeom prst="rect">
            <a:avLst/>
          </a:prstGeom>
          <a:noFill/>
          <a:ln/>
        </p:spPr>
        <p:txBody>
          <a:bodyPr wrap="none" lIns="0" tIns="0" rIns="0" bIns="0" rtlCol="0" anchor="ctr"/>
          <a:lstStyle/>
          <a:p>
            <a:pPr algn="l" indent="0" marL="0">
              <a:lnSpc>
                <a:spcPct val="118000"/>
              </a:lnSpc>
              <a:buNone/>
            </a:pPr>
            <a:r>
              <a:rPr lang="en-US" sz="1050" spc="84" kern="100" dirty="0">
                <a:solidFill>
                  <a:srgbClr val="9D9D9D"/>
                </a:solidFill>
                <a:latin typeface="Fira Mono" pitchFamily="34" charset="0"/>
                <a:ea typeface="Fira Mono" pitchFamily="34" charset="-122"/>
                <a:cs typeface="Fira Mono" pitchFamily="34" charset="-120"/>
              </a:rPr>
              <a:t>17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2026-10-16T04:40:09Z</dcterms:created>
  <dcterms:modified xsi:type="dcterms:W3CDTF">2026-10-16T04:40:09Z</dcterms:modified>
</cp:coreProperties>
</file>